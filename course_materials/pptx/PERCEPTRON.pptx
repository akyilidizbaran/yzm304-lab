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7T23:33:25.481"/>
    </inkml:context>
    <inkml:brush xml:id="br0">
      <inkml:brushProperty name="width" value="0.2" units="cm"/>
      <inkml:brushProperty name="height" value="1.2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7T23:33:25.481"/>
    </inkml:context>
    <inkml:brush xml:id="br0">
      <inkml:brushProperty name="width" value="0.2" units="cm"/>
      <inkml:brushProperty name="height" value="1.2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7T23:33:25.481"/>
    </inkml:context>
    <inkml:brush xml:id="br0">
      <inkml:brushProperty name="width" value="0.2" units="cm"/>
      <inkml:brushProperty name="height" value="1.2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7T23:33:25.481"/>
    </inkml:context>
    <inkml:brush xml:id="br0">
      <inkml:brushProperty name="width" value="0.2" units="cm"/>
      <inkml:brushProperty name="height" value="1.2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7T23:33:25.481"/>
    </inkml:context>
    <inkml:brush xml:id="br0">
      <inkml:brushProperty name="width" value="0.2" units="cm"/>
      <inkml:brushProperty name="height" value="1.2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7T23:33:25.481"/>
    </inkml:context>
    <inkml:brush xml:id="br0">
      <inkml:brushProperty name="width" value="0.2" units="cm"/>
      <inkml:brushProperty name="height" value="1.2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32B1-8FD6-13BA-3820-2E9A1A78B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806F1-1764-15FC-639C-835799145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A502E-573D-13EE-164E-771C78F9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146-D99F-4859-8E09-665AC1408AAB}" type="datetimeFigureOut">
              <a:rPr lang="tr-TR" smtClean="0"/>
              <a:t>28.03.2023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65AE5-F766-336A-1EBC-C35688DB5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84252-DB65-6E8F-59B5-CAB91DEE0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6D5-3ECE-4A3E-8444-A7576FE22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2803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41036-43B3-D0ED-9928-87108EC09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12D07-DFD7-23AB-BC3C-F47483C85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766AC-D716-26F1-BE19-2B45798E1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146-D99F-4859-8E09-665AC1408AAB}" type="datetimeFigureOut">
              <a:rPr lang="tr-TR" smtClean="0"/>
              <a:t>28.03.2023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B31C3-49A8-5420-D61A-D376C4A2B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FF377-F635-ABBE-1BAA-3E75105E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6D5-3ECE-4A3E-8444-A7576FE22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562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12C74-C03B-C97E-6BC6-6CA6E105C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F6DA0-0824-9913-B923-DD894EB2F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E930E-47DE-66C6-BCC3-1DDA5E0A5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146-D99F-4859-8E09-665AC1408AAB}" type="datetimeFigureOut">
              <a:rPr lang="tr-TR" smtClean="0"/>
              <a:t>28.03.2023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ED9A5-1BA1-21BB-5854-ED220D2CB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335DB-C567-534F-BEB8-A04C951F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6D5-3ECE-4A3E-8444-A7576FE22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048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DF75-A94B-2041-271D-B003C0AC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C369-58F1-EC93-8CD9-D79BABE81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8950B-9E20-F983-3F71-721F12A43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D7870-9CE4-D17B-4332-45806707C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146-D99F-4859-8E09-665AC1408AAB}" type="datetimeFigureOut">
              <a:rPr lang="tr-TR" smtClean="0"/>
              <a:t>28.03.2023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05EAA-B1A9-A128-02F7-5600D915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181B6-4CB2-61EB-3869-F082F23A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6D5-3ECE-4A3E-8444-A7576FE22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5146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42AB-14B0-C492-86B3-235597187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36656-C476-E823-1A5D-54601F37D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D0E89-2600-5291-05F4-9CF4BA4CF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5C113-C092-DC57-3E5F-2848A2D09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4A3F4-6FF5-5743-DDBE-7B3AEFFD3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C273F0-594C-5097-3A6E-B68C88918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146-D99F-4859-8E09-665AC1408AAB}" type="datetimeFigureOut">
              <a:rPr lang="tr-TR" smtClean="0"/>
              <a:t>28.03.2023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F86F34-B9C9-C6B3-4620-BC2B0323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8E7110-3C09-6A9C-1A1C-8068130A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6D5-3ECE-4A3E-8444-A7576FE22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662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C0D3-27B2-22AC-462D-90AD6063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6AEB3-F07C-5CA7-F1BD-4092F97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146-D99F-4859-8E09-665AC1408AAB}" type="datetimeFigureOut">
              <a:rPr lang="tr-TR" smtClean="0"/>
              <a:t>28.03.2023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0D2A2-BF20-3703-9810-E936D728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5A349-6265-63FE-CA60-4572E3CA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6D5-3ECE-4A3E-8444-A7576FE22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97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0DC08-EFF9-BD5B-E4CA-2CE941AD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146-D99F-4859-8E09-665AC1408AAB}" type="datetimeFigureOut">
              <a:rPr lang="tr-TR" smtClean="0"/>
              <a:t>28.03.2023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347800-1F24-BC75-D508-DA6B7F3A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4C0D5-09F5-127F-8786-B485778D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6D5-3ECE-4A3E-8444-A7576FE22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431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2535-AFA1-DCF8-3670-6548040A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D1597-DEE5-0977-1671-8DF07F23F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F8DBD-8B98-FE97-FD25-69E9CE4D1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67B6E-6C43-AA5F-1CDF-36B59F94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146-D99F-4859-8E09-665AC1408AAB}" type="datetimeFigureOut">
              <a:rPr lang="tr-TR" smtClean="0"/>
              <a:t>28.03.2023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2D38B-6B91-8615-E735-6AE7FA22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7EFC0-40E4-A39C-3880-5076353B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6D5-3ECE-4A3E-8444-A7576FE22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145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47E5-A6F2-C6FA-9131-3DF9487DC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C62AAB-D856-777C-E8D1-F4D3F24174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DD9A3-0032-48B7-0EDA-BF9E29288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6E359-A5AA-1D29-C132-EFBE3B07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146-D99F-4859-8E09-665AC1408AAB}" type="datetimeFigureOut">
              <a:rPr lang="tr-TR" smtClean="0"/>
              <a:t>28.03.2023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CFD04-8494-BF5D-44A0-D54C5D962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88AE7-43BC-94E7-5FB2-B34FAFCB5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6D5-3ECE-4A3E-8444-A7576FE22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8620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AD947-DEE3-6B66-114A-761FE863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5C1D5-9B91-CDEB-A729-30EE3CB6D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5049B-6746-CC1D-1CFB-35FE43F1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146-D99F-4859-8E09-665AC1408AAB}" type="datetimeFigureOut">
              <a:rPr lang="tr-TR" smtClean="0"/>
              <a:t>28.03.2023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8C639-DAA4-9E57-56B6-7DE121C12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4712D-C933-C950-3BF1-F98710DD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6D5-3ECE-4A3E-8444-A7576FE22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6561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4C32ED-A510-93C4-1004-AEC5A8ED2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0FF63-E1D1-AD66-A11E-7AFC08BEE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D8CE7-E0AF-A0B9-3D19-0448C4E33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A146-D99F-4859-8E09-665AC1408AAB}" type="datetimeFigureOut">
              <a:rPr lang="tr-TR" smtClean="0"/>
              <a:t>28.03.2023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DCB5A-91F3-0361-A4DC-6A8569E57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CAAFC-D07F-2F6C-048B-D2D1BB50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66D5-3ECE-4A3E-8444-A7576FE22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819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504F5-3259-653D-DC73-6D27F1CA9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230AD-F7A8-6B66-D513-5AF212F4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3C4EB-601C-8460-A3C5-A8F4A4710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EA146-D99F-4859-8E09-665AC1408AAB}" type="datetimeFigureOut">
              <a:rPr lang="tr-TR" smtClean="0"/>
              <a:t>28.03.2023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51038-6223-D3BE-F429-7D6F41CAA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28295-8C1C-99F8-1A53-A6564AA14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266D5-3ECE-4A3E-8444-A7576FE224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34685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mplilearn.com/tutorials/deep-learning-tutorial/what-is-neural-networ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1F2D-4DA5-DD3F-8267-71E1CE5DC0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Perceptron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BD17B-1550-03D0-FDEE-FD3DC06258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Descriptions by Mayank </a:t>
            </a:r>
            <a:r>
              <a:rPr lang="en-GB" dirty="0" err="1"/>
              <a:t>Banoula</a:t>
            </a:r>
            <a:endParaRPr lang="en-GB" dirty="0"/>
          </a:p>
          <a:p>
            <a:r>
              <a:rPr lang="en-GB" dirty="0"/>
              <a:t>Example by Koray Açıcı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23537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FB85-E8D2-C4A3-97CB-ECC69A38B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Perceptron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28CBD-C228-11EA-9623-C256BA1D0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 </a:t>
            </a:r>
            <a:r>
              <a:rPr lang="en-GB" b="0" i="0" u="none" strike="noStrike" dirty="0">
                <a:solidFill>
                  <a:srgbClr val="1179EF"/>
                </a:solidFill>
                <a:effectLst/>
                <a:latin typeface="Roboto" panose="02000000000000000000" pitchFamily="2" charset="0"/>
                <a:hlinkClick r:id="rId2" tooltip="neural network unit (an artificial neuron)"/>
              </a:rPr>
              <a:t>neural network 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link that contains computations to track features and uses Artificial Intelligence in the input data</a:t>
            </a:r>
          </a:p>
          <a:p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This neural links to the artificial neurons using simple logic gates with binary outputs</a:t>
            </a:r>
          </a:p>
          <a:p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An artificial neuron invokes the mathematical function and has node, input, weights, and output equivalent to the cell nucleus, dendrites, synapse, and axon, respectively, compared to a biological neuron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57690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1E8F47-76B7-3351-6667-FEBF118F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GB" sz="3400"/>
              <a:t>Perceptron – Biological Neuron</a:t>
            </a:r>
            <a:endParaRPr lang="tr-TR" sz="3400"/>
          </a:p>
        </p:txBody>
      </p:sp>
      <p:sp>
        <p:nvSpPr>
          <p:cNvPr id="103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F7CD-63AC-2439-AE2E-D1257CAD2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717766"/>
          </a:xfrm>
        </p:spPr>
        <p:txBody>
          <a:bodyPr anchor="ctr">
            <a:normAutofit fontScale="92500" lnSpcReduction="10000"/>
          </a:bodyPr>
          <a:lstStyle/>
          <a:p>
            <a:r>
              <a:rPr lang="en-GB" sz="1800" b="0" i="0" dirty="0">
                <a:effectLst/>
                <a:latin typeface="Roboto" panose="02000000000000000000" pitchFamily="2" charset="0"/>
              </a:rPr>
              <a:t>A human </a:t>
            </a:r>
            <a:r>
              <a:rPr lang="en-GB" sz="1800" b="1" i="0" dirty="0">
                <a:effectLst/>
                <a:latin typeface="Roboto" panose="02000000000000000000" pitchFamily="2" charset="0"/>
              </a:rPr>
              <a:t>brain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 has billions of neurons. </a:t>
            </a:r>
          </a:p>
          <a:p>
            <a:r>
              <a:rPr lang="en-GB" sz="1800" b="1" i="0" dirty="0">
                <a:effectLst/>
                <a:latin typeface="Roboto" panose="02000000000000000000" pitchFamily="2" charset="0"/>
              </a:rPr>
              <a:t>Neurons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 are interconnected </a:t>
            </a:r>
            <a:r>
              <a:rPr lang="en-GB" sz="1800" b="1" i="0" dirty="0">
                <a:effectLst/>
                <a:latin typeface="Roboto" panose="02000000000000000000" pitchFamily="2" charset="0"/>
              </a:rPr>
              <a:t>nerve cells 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in the human brain that are involved in processing and transmitting chemical and electrical </a:t>
            </a:r>
            <a:r>
              <a:rPr lang="en-GB" sz="1800" b="1" i="0" dirty="0">
                <a:effectLst/>
                <a:latin typeface="Roboto" panose="02000000000000000000" pitchFamily="2" charset="0"/>
              </a:rPr>
              <a:t>signals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.</a:t>
            </a:r>
          </a:p>
          <a:p>
            <a:r>
              <a:rPr lang="en-GB" sz="1800" b="1" i="0" dirty="0">
                <a:effectLst/>
                <a:latin typeface="Roboto" panose="02000000000000000000" pitchFamily="2" charset="0"/>
              </a:rPr>
              <a:t>Dendrites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 are branches that receive information from other </a:t>
            </a:r>
            <a:r>
              <a:rPr lang="en-GB" sz="1800" b="1" i="0" dirty="0">
                <a:effectLst/>
                <a:latin typeface="Roboto" panose="02000000000000000000" pitchFamily="2" charset="0"/>
              </a:rPr>
              <a:t>neurons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.</a:t>
            </a:r>
            <a:endParaRPr lang="tr-TR" sz="1500" dirty="0"/>
          </a:p>
        </p:txBody>
      </p:sp>
      <p:pic>
        <p:nvPicPr>
          <p:cNvPr id="1026" name="Picture 2" descr="diagram-of-a-biological-neuron_1">
            <a:extLst>
              <a:ext uri="{FF2B5EF4-FFF2-40B4-BE49-F238E27FC236}">
                <a16:creationId xmlns:a16="http://schemas.microsoft.com/office/drawing/2014/main" id="{8E6CEDB5-65FD-14E9-F6E4-B48221ECD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2618" y="2290936"/>
            <a:ext cx="9154571" cy="395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24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1E8F47-76B7-3351-6667-FEBF118F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GB" sz="3400" dirty="0"/>
              <a:t>Perceptron – Biological Neuron</a:t>
            </a:r>
            <a:endParaRPr lang="tr-TR" sz="3400" dirty="0"/>
          </a:p>
        </p:txBody>
      </p:sp>
      <p:sp>
        <p:nvSpPr>
          <p:cNvPr id="103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F7CD-63AC-2439-AE2E-D1257CAD2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717766"/>
          </a:xfrm>
        </p:spPr>
        <p:txBody>
          <a:bodyPr anchor="ctr">
            <a:normAutofit/>
          </a:bodyPr>
          <a:lstStyle/>
          <a:p>
            <a:r>
              <a:rPr lang="en-GB" sz="1800" b="1" i="0" dirty="0">
                <a:effectLst/>
                <a:latin typeface="Roboto" panose="02000000000000000000" pitchFamily="2" charset="0"/>
              </a:rPr>
              <a:t>Cell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sz="1800" b="1" i="0" dirty="0">
                <a:effectLst/>
                <a:latin typeface="Roboto" panose="02000000000000000000" pitchFamily="2" charset="0"/>
              </a:rPr>
              <a:t>nucleus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 or </a:t>
            </a:r>
            <a:r>
              <a:rPr lang="en-GB" sz="1800" b="1" i="0" dirty="0">
                <a:effectLst/>
                <a:latin typeface="Roboto" panose="02000000000000000000" pitchFamily="2" charset="0"/>
              </a:rPr>
              <a:t>Soma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 processes the information received from </a:t>
            </a:r>
            <a:r>
              <a:rPr lang="en-GB" sz="1800" b="1" i="0" dirty="0">
                <a:effectLst/>
                <a:latin typeface="Roboto" panose="02000000000000000000" pitchFamily="2" charset="0"/>
              </a:rPr>
              <a:t>dendrites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. </a:t>
            </a:r>
          </a:p>
          <a:p>
            <a:r>
              <a:rPr lang="en-GB" sz="1800" b="1" i="0" dirty="0">
                <a:effectLst/>
                <a:latin typeface="Roboto" panose="02000000000000000000" pitchFamily="2" charset="0"/>
              </a:rPr>
              <a:t>Axon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 is a cable that is used by </a:t>
            </a:r>
            <a:r>
              <a:rPr lang="en-GB" sz="1800" b="1" i="0" dirty="0">
                <a:effectLst/>
                <a:latin typeface="Roboto" panose="02000000000000000000" pitchFamily="2" charset="0"/>
              </a:rPr>
              <a:t>neurons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 to send information.</a:t>
            </a:r>
          </a:p>
          <a:p>
            <a:r>
              <a:rPr lang="en-GB" sz="1800" b="1" i="0" dirty="0">
                <a:effectLst/>
                <a:latin typeface="Roboto" panose="02000000000000000000" pitchFamily="2" charset="0"/>
              </a:rPr>
              <a:t>Synapse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 is the connection between an </a:t>
            </a:r>
            <a:r>
              <a:rPr lang="en-GB" sz="1800" b="1" i="0" dirty="0">
                <a:effectLst/>
                <a:latin typeface="Roboto" panose="02000000000000000000" pitchFamily="2" charset="0"/>
              </a:rPr>
              <a:t>axon</a:t>
            </a:r>
            <a:r>
              <a:rPr lang="en-GB" sz="1800" b="0" i="0" dirty="0">
                <a:effectLst/>
                <a:latin typeface="Roboto" panose="02000000000000000000" pitchFamily="2" charset="0"/>
              </a:rPr>
              <a:t> and other neuron </a:t>
            </a:r>
            <a:r>
              <a:rPr lang="en-GB" sz="1800" b="1" i="0" dirty="0">
                <a:effectLst/>
                <a:latin typeface="Roboto" panose="02000000000000000000" pitchFamily="2" charset="0"/>
              </a:rPr>
              <a:t>dendrite</a:t>
            </a:r>
            <a:endParaRPr lang="tr-TR" sz="1500" b="1" dirty="0"/>
          </a:p>
        </p:txBody>
      </p:sp>
      <p:pic>
        <p:nvPicPr>
          <p:cNvPr id="1026" name="Picture 2" descr="diagram-of-a-biological-neuron_1">
            <a:extLst>
              <a:ext uri="{FF2B5EF4-FFF2-40B4-BE49-F238E27FC236}">
                <a16:creationId xmlns:a16="http://schemas.microsoft.com/office/drawing/2014/main" id="{8E6CEDB5-65FD-14E9-F6E4-B48221ECD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2618" y="2290936"/>
            <a:ext cx="9154571" cy="395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12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DB567D-4860-FD9B-944D-BBE43D3A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GB" dirty="0"/>
              <a:t>Perceptron – Artificial Neuron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6477-9A9B-1512-A087-04991D5F8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GB" sz="2000" b="0" i="0">
                <a:effectLst/>
                <a:latin typeface="Roboto" panose="02000000000000000000" pitchFamily="2" charset="0"/>
              </a:rPr>
              <a:t>Researchers </a:t>
            </a:r>
            <a:r>
              <a:rPr lang="en-GB" sz="2000" b="1" i="0">
                <a:effectLst/>
                <a:latin typeface="Roboto" panose="02000000000000000000" pitchFamily="2" charset="0"/>
              </a:rPr>
              <a:t>Warren McCullock </a:t>
            </a:r>
            <a:r>
              <a:rPr lang="en-GB" sz="2000" b="0" i="0">
                <a:effectLst/>
                <a:latin typeface="Roboto" panose="02000000000000000000" pitchFamily="2" charset="0"/>
              </a:rPr>
              <a:t>and </a:t>
            </a:r>
            <a:r>
              <a:rPr lang="en-GB" sz="2000" b="1" i="0">
                <a:effectLst/>
                <a:latin typeface="Roboto" panose="02000000000000000000" pitchFamily="2" charset="0"/>
              </a:rPr>
              <a:t>Walter Pitts</a:t>
            </a:r>
            <a:r>
              <a:rPr lang="en-GB" sz="2000" b="0" i="0">
                <a:effectLst/>
                <a:latin typeface="Roboto" panose="02000000000000000000" pitchFamily="2" charset="0"/>
              </a:rPr>
              <a:t> published their first concept of simplified brain cell in 1943. This was called </a:t>
            </a:r>
            <a:r>
              <a:rPr lang="en-GB" sz="2000" b="1" i="0">
                <a:effectLst/>
                <a:latin typeface="Roboto" panose="02000000000000000000" pitchFamily="2" charset="0"/>
              </a:rPr>
              <a:t>McCullock-Pitts (MCP) neuron</a:t>
            </a:r>
            <a:r>
              <a:rPr lang="en-GB" sz="2000" b="0" i="0">
                <a:effectLst/>
                <a:latin typeface="Roboto" panose="02000000000000000000" pitchFamily="2" charset="0"/>
              </a:rPr>
              <a:t>. They described such a </a:t>
            </a:r>
            <a:r>
              <a:rPr lang="en-GB" sz="2000" b="1" i="0">
                <a:effectLst/>
                <a:latin typeface="Roboto" panose="02000000000000000000" pitchFamily="2" charset="0"/>
              </a:rPr>
              <a:t>nerve cell</a:t>
            </a:r>
            <a:r>
              <a:rPr lang="en-GB" sz="2000" b="0" i="0">
                <a:effectLst/>
                <a:latin typeface="Roboto" panose="02000000000000000000" pitchFamily="2" charset="0"/>
              </a:rPr>
              <a:t> as a </a:t>
            </a:r>
            <a:r>
              <a:rPr lang="en-GB" sz="2000" b="1" i="0">
                <a:effectLst/>
                <a:latin typeface="Roboto" panose="02000000000000000000" pitchFamily="2" charset="0"/>
              </a:rPr>
              <a:t>simple logic gate with </a:t>
            </a:r>
            <a:r>
              <a:rPr lang="en-GB" sz="2000" b="1" i="0" u="sng">
                <a:effectLst/>
                <a:latin typeface="Roboto" panose="02000000000000000000" pitchFamily="2" charset="0"/>
              </a:rPr>
              <a:t>binary outputs</a:t>
            </a:r>
            <a:r>
              <a:rPr lang="en-GB" sz="2000" b="0" i="0">
                <a:effectLst/>
                <a:latin typeface="Roboto" panose="02000000000000000000" pitchFamily="2" charset="0"/>
              </a:rPr>
              <a:t>.</a:t>
            </a:r>
          </a:p>
          <a:p>
            <a:r>
              <a:rPr lang="en-GB" sz="2000" b="0" i="0">
                <a:effectLst/>
                <a:latin typeface="Roboto" panose="02000000000000000000" pitchFamily="2" charset="0"/>
              </a:rPr>
              <a:t>Multiple signals arrive at the </a:t>
            </a:r>
            <a:r>
              <a:rPr lang="en-GB" sz="2000" b="1" i="0">
                <a:effectLst/>
                <a:latin typeface="Roboto" panose="02000000000000000000" pitchFamily="2" charset="0"/>
              </a:rPr>
              <a:t>dendrites</a:t>
            </a:r>
            <a:r>
              <a:rPr lang="en-GB" sz="2000" b="0" i="0">
                <a:effectLst/>
                <a:latin typeface="Roboto" panose="02000000000000000000" pitchFamily="2" charset="0"/>
              </a:rPr>
              <a:t> and are then integrated into the </a:t>
            </a:r>
            <a:r>
              <a:rPr lang="en-GB" sz="2000" b="1" i="0">
                <a:effectLst/>
                <a:latin typeface="Roboto" panose="02000000000000000000" pitchFamily="2" charset="0"/>
              </a:rPr>
              <a:t>cell body</a:t>
            </a:r>
            <a:r>
              <a:rPr lang="en-GB" sz="2000" b="0" i="0">
                <a:effectLst/>
                <a:latin typeface="Roboto" panose="02000000000000000000" pitchFamily="2" charset="0"/>
              </a:rPr>
              <a:t>, and, </a:t>
            </a:r>
            <a:r>
              <a:rPr lang="en-GB" sz="2000" b="1" i="0">
                <a:effectLst/>
                <a:latin typeface="Roboto" panose="02000000000000000000" pitchFamily="2" charset="0"/>
              </a:rPr>
              <a:t>if</a:t>
            </a:r>
            <a:r>
              <a:rPr lang="en-GB" sz="2000" b="0" i="0">
                <a:effectLst/>
                <a:latin typeface="Roboto" panose="02000000000000000000" pitchFamily="2" charset="0"/>
              </a:rPr>
              <a:t> the accumulated signal </a:t>
            </a:r>
            <a:r>
              <a:rPr lang="en-GB" sz="2000" b="1" i="0">
                <a:effectLst/>
                <a:latin typeface="Roboto" panose="02000000000000000000" pitchFamily="2" charset="0"/>
              </a:rPr>
              <a:t>exceeds</a:t>
            </a:r>
            <a:r>
              <a:rPr lang="en-GB" sz="2000" b="0" i="0">
                <a:effectLst/>
                <a:latin typeface="Roboto" panose="02000000000000000000" pitchFamily="2" charset="0"/>
              </a:rPr>
              <a:t> a certain </a:t>
            </a:r>
            <a:r>
              <a:rPr lang="en-GB" sz="2000" b="1" i="0">
                <a:effectLst/>
                <a:latin typeface="Roboto" panose="02000000000000000000" pitchFamily="2" charset="0"/>
              </a:rPr>
              <a:t>threshold</a:t>
            </a:r>
            <a:r>
              <a:rPr lang="en-GB" sz="2000" b="0" i="0">
                <a:effectLst/>
                <a:latin typeface="Roboto" panose="02000000000000000000" pitchFamily="2" charset="0"/>
              </a:rPr>
              <a:t>, an </a:t>
            </a:r>
            <a:r>
              <a:rPr lang="en-GB" sz="2000" b="1" i="0">
                <a:effectLst/>
                <a:latin typeface="Roboto" panose="02000000000000000000" pitchFamily="2" charset="0"/>
              </a:rPr>
              <a:t>output signal</a:t>
            </a:r>
            <a:r>
              <a:rPr lang="en-GB" sz="2000" b="0" i="0">
                <a:effectLst/>
                <a:latin typeface="Roboto" panose="02000000000000000000" pitchFamily="2" charset="0"/>
              </a:rPr>
              <a:t> is generated that will be </a:t>
            </a:r>
            <a:r>
              <a:rPr lang="en-GB" sz="2000" b="1" i="0">
                <a:effectLst/>
                <a:latin typeface="Roboto" panose="02000000000000000000" pitchFamily="2" charset="0"/>
              </a:rPr>
              <a:t>passed</a:t>
            </a:r>
            <a:r>
              <a:rPr lang="en-GB" sz="2000" b="0" i="0">
                <a:effectLst/>
                <a:latin typeface="Roboto" panose="02000000000000000000" pitchFamily="2" charset="0"/>
              </a:rPr>
              <a:t> on by the </a:t>
            </a:r>
            <a:r>
              <a:rPr lang="en-GB" sz="2000" b="1" i="0">
                <a:effectLst/>
                <a:latin typeface="Roboto" panose="02000000000000000000" pitchFamily="2" charset="0"/>
              </a:rPr>
              <a:t>axon</a:t>
            </a:r>
            <a:r>
              <a:rPr lang="en-GB" sz="2000" b="0" i="0">
                <a:effectLst/>
                <a:latin typeface="Roboto" panose="02000000000000000000" pitchFamily="2" charset="0"/>
              </a:rPr>
              <a:t>.</a:t>
            </a:r>
          </a:p>
          <a:p>
            <a:endParaRPr lang="tr-TR" sz="2000"/>
          </a:p>
        </p:txBody>
      </p:sp>
      <p:pic>
        <p:nvPicPr>
          <p:cNvPr id="4" name="Picture 2" descr="diagram-of-a-biological-neuron_1">
            <a:extLst>
              <a:ext uri="{FF2B5EF4-FFF2-40B4-BE49-F238E27FC236}">
                <a16:creationId xmlns:a16="http://schemas.microsoft.com/office/drawing/2014/main" id="{70E2F1B2-CFB8-6F58-9FC7-2319C82FB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42470" y="1803922"/>
            <a:ext cx="5723706" cy="428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3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57" name="Arc 205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5E996-B5B2-5767-9F6B-7427C9D8D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GB"/>
              <a:t>Perceptron – Artificial Neuron</a:t>
            </a:r>
            <a:endParaRPr lang="tr-TR" dirty="0"/>
          </a:p>
        </p:txBody>
      </p:sp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 descr="diagram-for-general-view-of-artificial-neuron_2.">
            <a:extLst>
              <a:ext uri="{FF2B5EF4-FFF2-40B4-BE49-F238E27FC236}">
                <a16:creationId xmlns:a16="http://schemas.microsoft.com/office/drawing/2014/main" id="{BDBC769D-34DE-AF8D-6AF6-ECD8B6C72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2102009"/>
            <a:ext cx="4777381" cy="248423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053BF-4319-9A94-AEB1-03BCD62CB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GB" b="0" i="0" dirty="0">
                <a:effectLst/>
                <a:latin typeface="Roboto" panose="02000000000000000000" pitchFamily="2" charset="0"/>
              </a:rPr>
              <a:t>An </a:t>
            </a:r>
            <a:r>
              <a:rPr lang="en-GB" b="1" i="0" dirty="0">
                <a:effectLst/>
                <a:latin typeface="Roboto" panose="02000000000000000000" pitchFamily="2" charset="0"/>
              </a:rPr>
              <a:t>artificial</a:t>
            </a:r>
            <a:r>
              <a:rPr lang="en-GB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effectLst/>
                <a:latin typeface="Roboto" panose="02000000000000000000" pitchFamily="2" charset="0"/>
              </a:rPr>
              <a:t>neuron</a:t>
            </a:r>
            <a:r>
              <a:rPr lang="en-GB" b="0" i="0" dirty="0">
                <a:effectLst/>
                <a:latin typeface="Roboto" panose="02000000000000000000" pitchFamily="2" charset="0"/>
              </a:rPr>
              <a:t> is a </a:t>
            </a:r>
            <a:r>
              <a:rPr lang="en-GB" b="1" i="0" dirty="0">
                <a:effectLst/>
                <a:latin typeface="Roboto" panose="02000000000000000000" pitchFamily="2" charset="0"/>
              </a:rPr>
              <a:t>mathematical function </a:t>
            </a:r>
            <a:r>
              <a:rPr lang="en-GB" b="0" i="0" dirty="0">
                <a:effectLst/>
                <a:latin typeface="Roboto" panose="02000000000000000000" pitchFamily="2" charset="0"/>
              </a:rPr>
              <a:t>based on a model of biological neurons, where each </a:t>
            </a:r>
            <a:r>
              <a:rPr lang="en-GB" b="1" i="0" dirty="0">
                <a:effectLst/>
                <a:latin typeface="Roboto" panose="02000000000000000000" pitchFamily="2" charset="0"/>
              </a:rPr>
              <a:t>neuron</a:t>
            </a:r>
            <a:r>
              <a:rPr lang="en-GB" b="0" i="0" dirty="0">
                <a:effectLst/>
                <a:latin typeface="Roboto" panose="02000000000000000000" pitchFamily="2" charset="0"/>
              </a:rPr>
              <a:t> takes </a:t>
            </a:r>
            <a:r>
              <a:rPr lang="en-GB" b="1" i="0" dirty="0">
                <a:effectLst/>
                <a:latin typeface="Roboto" panose="02000000000000000000" pitchFamily="2" charset="0"/>
              </a:rPr>
              <a:t>inputs</a:t>
            </a:r>
            <a:r>
              <a:rPr lang="en-GB" b="0" i="0" dirty="0">
                <a:effectLst/>
                <a:latin typeface="Roboto" panose="02000000000000000000" pitchFamily="2" charset="0"/>
              </a:rPr>
              <a:t>, </a:t>
            </a:r>
            <a:r>
              <a:rPr lang="en-GB" b="1" i="0" dirty="0">
                <a:effectLst/>
                <a:latin typeface="Roboto" panose="02000000000000000000" pitchFamily="2" charset="0"/>
              </a:rPr>
              <a:t>weighs</a:t>
            </a:r>
            <a:r>
              <a:rPr lang="en-GB" b="0" i="0" dirty="0">
                <a:effectLst/>
                <a:latin typeface="Roboto" panose="02000000000000000000" pitchFamily="2" charset="0"/>
              </a:rPr>
              <a:t> them separately, </a:t>
            </a:r>
            <a:r>
              <a:rPr lang="en-GB" b="1" i="0" dirty="0">
                <a:effectLst/>
                <a:latin typeface="Roboto" panose="02000000000000000000" pitchFamily="2" charset="0"/>
              </a:rPr>
              <a:t>sums</a:t>
            </a:r>
            <a:r>
              <a:rPr lang="en-GB" b="0" i="0" dirty="0">
                <a:effectLst/>
                <a:latin typeface="Roboto" panose="02000000000000000000" pitchFamily="2" charset="0"/>
              </a:rPr>
              <a:t> them up and </a:t>
            </a:r>
            <a:r>
              <a:rPr lang="en-GB" b="1" i="0" dirty="0">
                <a:effectLst/>
                <a:latin typeface="Roboto" panose="02000000000000000000" pitchFamily="2" charset="0"/>
              </a:rPr>
              <a:t>passes</a:t>
            </a:r>
            <a:r>
              <a:rPr lang="en-GB" b="0" i="0" dirty="0">
                <a:effectLst/>
                <a:latin typeface="Roboto" panose="02000000000000000000" pitchFamily="2" charset="0"/>
              </a:rPr>
              <a:t> this </a:t>
            </a:r>
            <a:r>
              <a:rPr lang="en-GB" b="1" i="0" dirty="0">
                <a:effectLst/>
                <a:latin typeface="Roboto" panose="02000000000000000000" pitchFamily="2" charset="0"/>
              </a:rPr>
              <a:t>sum</a:t>
            </a:r>
            <a:r>
              <a:rPr lang="en-GB" b="0" i="0" dirty="0">
                <a:effectLst/>
                <a:latin typeface="Roboto" panose="02000000000000000000" pitchFamily="2" charset="0"/>
              </a:rPr>
              <a:t> through a </a:t>
            </a:r>
            <a:r>
              <a:rPr lang="en-GB" b="1" i="0" dirty="0">
                <a:effectLst/>
                <a:latin typeface="Roboto" panose="02000000000000000000" pitchFamily="2" charset="0"/>
              </a:rPr>
              <a:t>nonlinear</a:t>
            </a:r>
            <a:r>
              <a:rPr lang="en-GB" b="0" i="0" dirty="0">
                <a:effectLst/>
                <a:latin typeface="Roboto" panose="02000000000000000000" pitchFamily="2" charset="0"/>
              </a:rPr>
              <a:t> function to produce </a:t>
            </a:r>
            <a:r>
              <a:rPr lang="en-GB" b="1" i="0" dirty="0">
                <a:effectLst/>
                <a:latin typeface="Roboto" panose="02000000000000000000" pitchFamily="2" charset="0"/>
              </a:rPr>
              <a:t>output</a:t>
            </a:r>
            <a:r>
              <a:rPr lang="en-GB" b="0" i="0" dirty="0">
                <a:effectLst/>
                <a:latin typeface="Roboto" panose="02000000000000000000" pitchFamily="2" charset="0"/>
              </a:rPr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23432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C094D-0094-B55D-33DB-F071D523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0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Biological Neuron vs. Artificial Neuron</a:t>
            </a:r>
            <a:br>
              <a:rPr lang="en-US" sz="3400" b="0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3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4C445B-E1C9-6DE6-93EB-86CD18909B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422654"/>
              </p:ext>
            </p:extLst>
          </p:nvPr>
        </p:nvGraphicFramePr>
        <p:xfrm>
          <a:off x="605129" y="1966293"/>
          <a:ext cx="10981742" cy="4452164"/>
        </p:xfrm>
        <a:graphic>
          <a:graphicData uri="http://schemas.openxmlformats.org/drawingml/2006/table">
            <a:tbl>
              <a:tblPr/>
              <a:tblGrid>
                <a:gridCol w="6956555">
                  <a:extLst>
                    <a:ext uri="{9D8B030D-6E8A-4147-A177-3AD203B41FA5}">
                      <a16:colId xmlns:a16="http://schemas.microsoft.com/office/drawing/2014/main" val="744950299"/>
                    </a:ext>
                  </a:extLst>
                </a:gridCol>
                <a:gridCol w="4025187">
                  <a:extLst>
                    <a:ext uri="{9D8B030D-6E8A-4147-A177-3AD203B41FA5}">
                      <a16:colId xmlns:a16="http://schemas.microsoft.com/office/drawing/2014/main" val="1730417774"/>
                    </a:ext>
                  </a:extLst>
                </a:gridCol>
              </a:tblGrid>
              <a:tr h="810294">
                <a:tc>
                  <a:txBody>
                    <a:bodyPr/>
                    <a:lstStyle/>
                    <a:p>
                      <a:pPr algn="ctr"/>
                      <a:r>
                        <a:rPr lang="en-GB" sz="26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Biological Neuron</a:t>
                      </a:r>
                    </a:p>
                  </a:txBody>
                  <a:tcPr marL="133565" marR="133565" marT="178086" marB="178086" anchor="ctr">
                    <a:lnL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Artificial Neuron</a:t>
                      </a:r>
                    </a:p>
                  </a:txBody>
                  <a:tcPr marL="133565" marR="133565" marT="178086" marB="178086" anchor="ctr">
                    <a:lnL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533588"/>
                  </a:ext>
                </a:extLst>
              </a:tr>
              <a:tr h="810294">
                <a:tc>
                  <a:txBody>
                    <a:bodyPr/>
                    <a:lstStyle/>
                    <a:p>
                      <a:pPr algn="ctr"/>
                      <a:r>
                        <a:rPr lang="en-GB" sz="2600" b="0" i="0" dirty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Cell Nucleus (Soma)</a:t>
                      </a:r>
                    </a:p>
                  </a:txBody>
                  <a:tcPr marL="133565" marR="133565" marT="178086" marB="178086" anchor="ctr">
                    <a:lnL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b="0" i="0" dirty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Node</a:t>
                      </a:r>
                    </a:p>
                  </a:txBody>
                  <a:tcPr marL="133565" marR="133565" marT="178086" marB="178086" anchor="ctr">
                    <a:lnL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835302"/>
                  </a:ext>
                </a:extLst>
              </a:tr>
              <a:tr h="810294">
                <a:tc>
                  <a:txBody>
                    <a:bodyPr/>
                    <a:lstStyle/>
                    <a:p>
                      <a:pPr algn="ctr"/>
                      <a:r>
                        <a:rPr lang="en-GB" sz="2600" b="0" i="0" dirty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Dendrites</a:t>
                      </a:r>
                    </a:p>
                  </a:txBody>
                  <a:tcPr marL="133565" marR="133565" marT="178086" marB="178086" anchor="ctr">
                    <a:lnL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b="0" i="0" dirty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Input</a:t>
                      </a:r>
                    </a:p>
                  </a:txBody>
                  <a:tcPr marL="133565" marR="133565" marT="178086" marB="178086" anchor="ctr">
                    <a:lnL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716915"/>
                  </a:ext>
                </a:extLst>
              </a:tr>
              <a:tr h="1210988">
                <a:tc>
                  <a:txBody>
                    <a:bodyPr/>
                    <a:lstStyle/>
                    <a:p>
                      <a:pPr algn="ctr"/>
                      <a:r>
                        <a:rPr lang="en-GB" sz="2600" b="0" i="0" dirty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Synapse</a:t>
                      </a:r>
                    </a:p>
                  </a:txBody>
                  <a:tcPr marL="133565" marR="133565" marT="178086" marB="178086" anchor="ctr">
                    <a:lnL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b="0" i="0" dirty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Weights or interconnections</a:t>
                      </a:r>
                    </a:p>
                  </a:txBody>
                  <a:tcPr marL="133565" marR="133565" marT="178086" marB="178086" anchor="ctr">
                    <a:lnL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141138"/>
                  </a:ext>
                </a:extLst>
              </a:tr>
              <a:tr h="810294">
                <a:tc>
                  <a:txBody>
                    <a:bodyPr/>
                    <a:lstStyle/>
                    <a:p>
                      <a:pPr algn="ctr"/>
                      <a:r>
                        <a:rPr lang="en-GB" sz="26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Axon</a:t>
                      </a:r>
                    </a:p>
                  </a:txBody>
                  <a:tcPr marL="133565" marR="133565" marT="178086" marB="178086" anchor="ctr">
                    <a:lnL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b="0" i="0" dirty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Output</a:t>
                      </a:r>
                    </a:p>
                  </a:txBody>
                  <a:tcPr marL="133565" marR="133565" marT="178086" marB="178086" anchor="ctr">
                    <a:lnL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3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3171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C03B-9E52-BBD1-CFAA-6EEF7937D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Artificial Neuron - Characteristics</a:t>
            </a:r>
            <a:br>
              <a:rPr lang="en-GB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</a:b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83394-85C3-0689-0BE3-E24D3E6F2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 neuron is a mathematical function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modelled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on the working of biological neurons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It is an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elementary unit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in an artificial neural network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One or more inputs are separately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weighted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Inputs are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summed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and passed through a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nonlinear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function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to produce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output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Every neuron holds an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internal state 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called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activation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signal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Each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connection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link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carries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information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about the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input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signal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Every neuron is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connected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to another neuron via connection link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62558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112" name="Arc 41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FABD3-C4E9-7D50-7FFD-B1B42FC1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GB"/>
              <a:t>Perceptron</a:t>
            </a:r>
            <a:endParaRPr lang="tr-TR"/>
          </a:p>
        </p:txBody>
      </p:sp>
      <p:sp>
        <p:nvSpPr>
          <p:cNvPr id="4114" name="Freeform: Shape 41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098" name="Picture 2" descr="general-diagram-of-perceptron-for-supervised-learning_4.">
            <a:extLst>
              <a:ext uri="{FF2B5EF4-FFF2-40B4-BE49-F238E27FC236}">
                <a16:creationId xmlns:a16="http://schemas.microsoft.com/office/drawing/2014/main" id="{313719F5-4C7A-4717-D49E-38400609B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399" y="2000250"/>
            <a:ext cx="5694295" cy="261937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CB887-226E-5B26-3E5A-9EA18F809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031" y="1516885"/>
            <a:ext cx="5751589" cy="4997182"/>
          </a:xfrm>
        </p:spPr>
        <p:txBody>
          <a:bodyPr>
            <a:normAutofit/>
          </a:bodyPr>
          <a:lstStyle/>
          <a:p>
            <a:r>
              <a:rPr lang="en-GB" b="1" i="0" dirty="0">
                <a:effectLst/>
                <a:latin typeface="Roboto" panose="02000000000000000000" pitchFamily="2" charset="0"/>
              </a:rPr>
              <a:t>Perceptron</a:t>
            </a:r>
            <a:r>
              <a:rPr lang="en-GB" b="0" i="0" dirty="0">
                <a:effectLst/>
                <a:latin typeface="Roboto" panose="02000000000000000000" pitchFamily="2" charset="0"/>
              </a:rPr>
              <a:t> was introduced by Frank </a:t>
            </a:r>
            <a:r>
              <a:rPr lang="en-GB" b="1" i="0" dirty="0">
                <a:effectLst/>
                <a:latin typeface="Roboto" panose="02000000000000000000" pitchFamily="2" charset="0"/>
              </a:rPr>
              <a:t>Rosenblatt</a:t>
            </a:r>
            <a:r>
              <a:rPr lang="en-GB" b="0" i="0" dirty="0">
                <a:effectLst/>
                <a:latin typeface="Roboto" panose="02000000000000000000" pitchFamily="2" charset="0"/>
              </a:rPr>
              <a:t> in 1957. </a:t>
            </a:r>
          </a:p>
          <a:p>
            <a:r>
              <a:rPr lang="en-GB" b="0" i="0" dirty="0">
                <a:effectLst/>
                <a:latin typeface="Roboto" panose="02000000000000000000" pitchFamily="2" charset="0"/>
              </a:rPr>
              <a:t>He proposed a Perceptron </a:t>
            </a:r>
            <a:r>
              <a:rPr lang="en-GB" b="1" i="0" dirty="0">
                <a:effectLst/>
                <a:latin typeface="Roboto" panose="02000000000000000000" pitchFamily="2" charset="0"/>
              </a:rPr>
              <a:t>learning rule</a:t>
            </a:r>
            <a:r>
              <a:rPr lang="en-GB" b="0" i="0" dirty="0">
                <a:effectLst/>
                <a:latin typeface="Roboto" panose="02000000000000000000" pitchFamily="2" charset="0"/>
              </a:rPr>
              <a:t> based on the original </a:t>
            </a:r>
            <a:r>
              <a:rPr lang="en-GB" b="1" i="0" dirty="0">
                <a:effectLst/>
                <a:latin typeface="Roboto" panose="02000000000000000000" pitchFamily="2" charset="0"/>
              </a:rPr>
              <a:t>MCP</a:t>
            </a:r>
            <a:r>
              <a:rPr lang="en-GB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effectLst/>
                <a:latin typeface="Roboto" panose="02000000000000000000" pitchFamily="2" charset="0"/>
              </a:rPr>
              <a:t>neuron</a:t>
            </a:r>
            <a:r>
              <a:rPr lang="en-GB" b="0" i="0" dirty="0">
                <a:effectLst/>
                <a:latin typeface="Roboto" panose="02000000000000000000" pitchFamily="2" charset="0"/>
              </a:rPr>
              <a:t>. </a:t>
            </a:r>
          </a:p>
          <a:p>
            <a:r>
              <a:rPr lang="en-GB" b="0" i="0" dirty="0">
                <a:effectLst/>
                <a:latin typeface="Roboto" panose="02000000000000000000" pitchFamily="2" charset="0"/>
              </a:rPr>
              <a:t>A Perceptron is an </a:t>
            </a:r>
            <a:r>
              <a:rPr lang="en-GB" b="1" i="0" dirty="0">
                <a:effectLst/>
                <a:latin typeface="Roboto" panose="02000000000000000000" pitchFamily="2" charset="0"/>
              </a:rPr>
              <a:t>algorithm</a:t>
            </a:r>
            <a:r>
              <a:rPr lang="en-GB" b="0" i="0" dirty="0">
                <a:effectLst/>
                <a:latin typeface="Roboto" panose="02000000000000000000" pitchFamily="2" charset="0"/>
              </a:rPr>
              <a:t> for </a:t>
            </a:r>
            <a:r>
              <a:rPr lang="en-GB" b="1" i="0" dirty="0">
                <a:effectLst/>
                <a:latin typeface="Roboto" panose="02000000000000000000" pitchFamily="2" charset="0"/>
              </a:rPr>
              <a:t>supervised</a:t>
            </a:r>
            <a:r>
              <a:rPr lang="en-GB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effectLst/>
                <a:latin typeface="Roboto" panose="02000000000000000000" pitchFamily="2" charset="0"/>
              </a:rPr>
              <a:t>learning</a:t>
            </a:r>
            <a:r>
              <a:rPr lang="en-GB" b="0" i="0" dirty="0">
                <a:effectLst/>
                <a:latin typeface="Roboto" panose="02000000000000000000" pitchFamily="2" charset="0"/>
              </a:rPr>
              <a:t> of </a:t>
            </a:r>
            <a:r>
              <a:rPr lang="en-GB" b="1" i="0" dirty="0">
                <a:effectLst/>
                <a:latin typeface="Roboto" panose="02000000000000000000" pitchFamily="2" charset="0"/>
              </a:rPr>
              <a:t>binary</a:t>
            </a:r>
            <a:r>
              <a:rPr lang="en-GB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effectLst/>
                <a:latin typeface="Roboto" panose="02000000000000000000" pitchFamily="2" charset="0"/>
              </a:rPr>
              <a:t>classifiers</a:t>
            </a:r>
            <a:r>
              <a:rPr lang="en-GB" b="0" i="0" dirty="0">
                <a:effectLst/>
                <a:latin typeface="Roboto" panose="02000000000000000000" pitchFamily="2" charset="0"/>
              </a:rPr>
              <a:t>. </a:t>
            </a:r>
          </a:p>
          <a:p>
            <a:r>
              <a:rPr lang="en-GB" b="0" i="0" dirty="0">
                <a:effectLst/>
                <a:latin typeface="Roboto" panose="02000000000000000000" pitchFamily="2" charset="0"/>
              </a:rPr>
              <a:t>This algorithm enables neurons to </a:t>
            </a:r>
            <a:r>
              <a:rPr lang="en-GB" b="1" i="0" dirty="0">
                <a:effectLst/>
                <a:latin typeface="Roboto" panose="02000000000000000000" pitchFamily="2" charset="0"/>
              </a:rPr>
              <a:t>learn</a:t>
            </a:r>
            <a:r>
              <a:rPr lang="en-GB" b="0" i="0" dirty="0">
                <a:effectLst/>
                <a:latin typeface="Roboto" panose="02000000000000000000" pitchFamily="2" charset="0"/>
              </a:rPr>
              <a:t> and </a:t>
            </a:r>
            <a:r>
              <a:rPr lang="en-GB" b="1" i="0" dirty="0">
                <a:effectLst/>
                <a:latin typeface="Roboto" panose="02000000000000000000" pitchFamily="2" charset="0"/>
              </a:rPr>
              <a:t>processes</a:t>
            </a:r>
            <a:r>
              <a:rPr lang="en-GB" b="0" i="0" dirty="0">
                <a:effectLst/>
                <a:latin typeface="Roboto" panose="02000000000000000000" pitchFamily="2" charset="0"/>
              </a:rPr>
              <a:t> elements in the </a:t>
            </a:r>
            <a:r>
              <a:rPr lang="en-GB" b="1" i="0" dirty="0">
                <a:effectLst/>
                <a:latin typeface="Roboto" panose="02000000000000000000" pitchFamily="2" charset="0"/>
              </a:rPr>
              <a:t>training set</a:t>
            </a:r>
            <a:r>
              <a:rPr lang="en-GB" b="0" i="0" dirty="0">
                <a:effectLst/>
                <a:latin typeface="Roboto" panose="02000000000000000000" pitchFamily="2" charset="0"/>
              </a:rPr>
              <a:t> one at a time.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29274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9BC24-D86D-033D-BDB1-43E59D9D0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Types of Perceptron</a:t>
            </a:r>
            <a:br>
              <a:rPr lang="en-GB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</a:b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3C3F7-D582-8F00-0F1E-20A3D47E0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Single layer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: Single layer perceptron can learn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only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linearly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separable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patterns.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Multilayer: Multilayer perceptrons can learn about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two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or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more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layers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having a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greater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processing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power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GB" dirty="0">
              <a:solidFill>
                <a:srgbClr val="51565E"/>
              </a:solidFill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GOAL 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  <a:sym typeface="Wingdings" panose="05000000000000000000" pitchFamily="2" charset="2"/>
              </a:rPr>
              <a:t> 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 Perceptron algorithm learns the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weights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for the input signals in order to draw a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linear decision boundary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endParaRPr lang="tr-TR" dirty="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EE3A9DFA-99EA-E73D-3A00-50529DEF186F}"/>
              </a:ext>
            </a:extLst>
          </p:cNvPr>
          <p:cNvSpPr/>
          <p:nvPr/>
        </p:nvSpPr>
        <p:spPr>
          <a:xfrm>
            <a:off x="10002416" y="4572000"/>
            <a:ext cx="914400" cy="914400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8590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0509D-8E95-4F64-C1BE-24551950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Perceptron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11C33-A54E-5354-5EDA-2700967E0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perceptron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model is also classified as one of the best and most specific types of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Artificial Neural networks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. </a:t>
            </a:r>
          </a:p>
          <a:p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Being a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supervised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learning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algorithm of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binary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classifiers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, we can also consider it a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single-layer neural network 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with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four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main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parameters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: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input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values,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weights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and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Bias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, net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sum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, and an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activation function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. 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44812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4" name="Rectangle 5143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6" name="Rectangle 5145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83CCE8-762E-0D16-003E-011D3FAA0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br>
              <a:rPr lang="en-GB" sz="2300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</a:br>
            <a:r>
              <a:rPr lang="en-GB" sz="2300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How Does Perceptron Work?</a:t>
            </a:r>
            <a:br>
              <a:rPr lang="en-GB" sz="2300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</a:br>
            <a:br>
              <a:rPr lang="en-GB" sz="2300" b="1" dirty="0">
                <a:solidFill>
                  <a:schemeClr val="tx2"/>
                </a:solidFill>
              </a:rPr>
            </a:br>
            <a:endParaRPr lang="tr-TR" sz="2300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008F6-4A48-0027-A708-79778032E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1619250"/>
            <a:ext cx="4765949" cy="5143500"/>
          </a:xfrm>
        </p:spPr>
        <p:txBody>
          <a:bodyPr anchor="t">
            <a:normAutofit lnSpcReduction="10000"/>
          </a:bodyPr>
          <a:lstStyle/>
          <a:p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The perceptron model begins with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multiplying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all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input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values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and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their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weights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, </a:t>
            </a:r>
          </a:p>
          <a:p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then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adds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these values to create the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weighted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sum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. </a:t>
            </a:r>
          </a:p>
          <a:p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Further, this weighted sum is applied to the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activation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function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‘f’ to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obtain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the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desired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output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. </a:t>
            </a:r>
          </a:p>
          <a:p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This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activation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function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is also known as the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step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function</a:t>
            </a:r>
            <a:r>
              <a:rPr lang="en-GB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.</a:t>
            </a:r>
            <a:endParaRPr lang="tr-TR" dirty="0">
              <a:solidFill>
                <a:schemeClr val="tx2"/>
              </a:solidFill>
            </a:endParaRPr>
          </a:p>
        </p:txBody>
      </p:sp>
      <p:grpSp>
        <p:nvGrpSpPr>
          <p:cNvPr id="5148" name="Group 5147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5149" name="Freeform: Shape 5148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0" name="Freeform: Shape 5149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1" name="Freeform: Shape 5150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2" name="Freeform: Shape 5151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122" name="Picture 2" descr="Perceptron_work">
            <a:extLst>
              <a:ext uri="{FF2B5EF4-FFF2-40B4-BE49-F238E27FC236}">
                <a16:creationId xmlns:a16="http://schemas.microsoft.com/office/drawing/2014/main" id="{1BD39EAF-73D3-CC17-EDC1-D866B88DA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74197" y="2105800"/>
            <a:ext cx="6636828" cy="324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109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4C081-60EC-2B5F-8C1C-D91454D9D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53465" cy="605259"/>
          </a:xfrm>
        </p:spPr>
        <p:txBody>
          <a:bodyPr>
            <a:normAutofit fontScale="90000"/>
          </a:bodyPr>
          <a:lstStyle/>
          <a:p>
            <a:br>
              <a:rPr lang="en-GB" sz="4400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</a:br>
            <a:br>
              <a:rPr lang="en-GB" sz="4400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</a:br>
            <a:r>
              <a:rPr lang="en-GB" sz="4400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How Does Perceptron Work?</a:t>
            </a:r>
            <a:br>
              <a:rPr lang="en-GB" sz="4400" b="1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</a:br>
            <a:br>
              <a:rPr lang="en-GB" sz="4400" b="1" dirty="0">
                <a:solidFill>
                  <a:schemeClr val="tx2"/>
                </a:solidFill>
              </a:rPr>
            </a:b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6C4A8-1058-CFC2-BF51-BF25F1506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359"/>
            <a:ext cx="10515600" cy="5122604"/>
          </a:xfrm>
        </p:spPr>
        <p:txBody>
          <a:bodyPr>
            <a:normAutofit fontScale="70000" lnSpcReduction="20000"/>
          </a:bodyPr>
          <a:lstStyle/>
          <a:p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step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function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or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Activation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function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is vital in ensuring that output is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mapped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between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(0,1) or (-1,1).</a:t>
            </a:r>
          </a:p>
          <a:p>
            <a:pPr algn="l"/>
            <a:endParaRPr lang="en-GB" b="0" i="0" dirty="0">
              <a:solidFill>
                <a:srgbClr val="51565E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n-GB" sz="41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Step 1: </a:t>
            </a:r>
            <a:r>
              <a:rPr lang="en-GB" sz="4100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Multiply</a:t>
            </a:r>
            <a:r>
              <a:rPr lang="en-GB" sz="41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all input values with corresponding weight values and then add to calculate the weighted sum. The following is the mathematical expression of it:</a:t>
            </a:r>
          </a:p>
          <a:p>
            <a:pPr lvl="1"/>
            <a:r>
              <a:rPr lang="en-GB" sz="36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∑</a:t>
            </a:r>
            <a:r>
              <a:rPr lang="en-GB" sz="3600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wi</a:t>
            </a:r>
            <a:r>
              <a:rPr lang="en-GB" sz="36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*xi = x1*w1 + x2*w2 + x3*w3+……..x4*w4</a:t>
            </a:r>
          </a:p>
          <a:p>
            <a:pPr algn="l"/>
            <a:r>
              <a:rPr lang="en-GB" sz="41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Add a term called </a:t>
            </a:r>
            <a:r>
              <a:rPr lang="en-GB" sz="4100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bias</a:t>
            </a:r>
            <a:r>
              <a:rPr lang="en-GB" sz="41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‘b’ to this weighted sum to </a:t>
            </a:r>
            <a:r>
              <a:rPr lang="en-GB" sz="4100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improve</a:t>
            </a:r>
            <a:r>
              <a:rPr lang="en-GB" sz="41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the model’s performance.</a:t>
            </a:r>
          </a:p>
          <a:p>
            <a:pPr algn="l"/>
            <a:r>
              <a:rPr lang="en-GB" sz="41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Step 2:  An </a:t>
            </a:r>
            <a:r>
              <a:rPr lang="en-GB" sz="4100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activation</a:t>
            </a:r>
            <a:r>
              <a:rPr lang="en-GB" sz="41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sz="4100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function</a:t>
            </a:r>
            <a:r>
              <a:rPr lang="en-GB" sz="41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is applied with the above-mentioned weighted sum giving us an </a:t>
            </a:r>
            <a:r>
              <a:rPr lang="en-GB" sz="4100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output</a:t>
            </a:r>
            <a:r>
              <a:rPr lang="en-GB" sz="41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either in binary form or a continuous value as follows:</a:t>
            </a:r>
          </a:p>
          <a:p>
            <a:pPr lvl="1"/>
            <a:r>
              <a:rPr lang="en-GB" sz="36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Y=f(∑</a:t>
            </a:r>
            <a:r>
              <a:rPr lang="en-GB" sz="3600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wi</a:t>
            </a:r>
            <a:r>
              <a:rPr lang="en-GB" sz="3600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*xi + b)</a:t>
            </a:r>
          </a:p>
          <a:p>
            <a:br>
              <a:rPr lang="en-GB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72560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152F7-50E5-1F4C-806D-160E7739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Stages in Perceptron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A1714-575D-CC04-D8BA-545C26B48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Forward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Stage: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From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the input layer in the on stage, activation functions begin and terminate on the output layer. </a:t>
            </a:r>
          </a:p>
          <a:p>
            <a:pPr algn="l"/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Backward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Stage: In the backward stage,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weight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and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bias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values are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modified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per the model’s requirement. The backstage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removed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the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error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between the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actual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output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and demands originating backward on the output layer.  A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multilayer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perceptron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model has a greater processing power and can process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linear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and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non-linear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patterns. Further, it also implements logic gates such as AND, OR, XOR, XNOR, and NOR.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20847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54CA-96F0-7314-052D-8D2BE006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Adv. &amp; </a:t>
            </a:r>
            <a:r>
              <a:rPr lang="en-GB" b="1" dirty="0" err="1"/>
              <a:t>Disadv</a:t>
            </a:r>
            <a:r>
              <a:rPr lang="en-GB" b="1" dirty="0"/>
              <a:t>. of MLP</a:t>
            </a:r>
            <a:endParaRPr lang="tr-T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3C06C-D27E-1263-9DFE-5A71D81C7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n-GB" b="1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Advantages: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 multi-layered perceptron model can solve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complex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non-linear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problems.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It works well with both small and large input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Helps us to obtain quick predictions after the training.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Helps us obtain the same accuracy ratio with big and small data.</a:t>
            </a:r>
          </a:p>
          <a:p>
            <a:pPr algn="l"/>
            <a:r>
              <a:rPr lang="en-GB" b="1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Disadvantages</a:t>
            </a:r>
            <a:r>
              <a:rPr lang="en-GB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In multi-layered perceptron model, computations are </a:t>
            </a:r>
            <a:r>
              <a:rPr lang="en-GB" b="1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time-consuming</a:t>
            </a: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and complex.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It is tough to predict how much the dependent variable affects each independent variable.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 model functioning depends on the quality of training.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70866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3536-B543-4D4A-2521-EB7027517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2103567" cy="2452687"/>
          </a:xfrm>
        </p:spPr>
        <p:txBody>
          <a:bodyPr anchor="ctr">
            <a:normAutofit/>
          </a:bodyPr>
          <a:lstStyle/>
          <a:p>
            <a:r>
              <a:rPr lang="en-GB" sz="3600" b="1" dirty="0"/>
              <a:t>Activation Function</a:t>
            </a:r>
            <a:endParaRPr lang="tr-TR" sz="3600" b="1" dirty="0"/>
          </a:p>
        </p:txBody>
      </p:sp>
      <p:pic>
        <p:nvPicPr>
          <p:cNvPr id="6146" name="Picture 2" descr="Perceptron_9">
            <a:extLst>
              <a:ext uri="{FF2B5EF4-FFF2-40B4-BE49-F238E27FC236}">
                <a16:creationId xmlns:a16="http://schemas.microsoft.com/office/drawing/2014/main" id="{681F3A61-228B-9C21-746D-C04EE5E8F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19"/>
          <a:stretch/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68836-437C-46E7-DD39-2C53AAC2E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580" y="3573624"/>
            <a:ext cx="9124815" cy="3153747"/>
          </a:xfrm>
        </p:spPr>
        <p:txBody>
          <a:bodyPr anchor="ctr">
            <a:normAutofit/>
          </a:bodyPr>
          <a:lstStyle/>
          <a:p>
            <a:r>
              <a:rPr lang="en-GB" b="1" dirty="0"/>
              <a:t>Step</a:t>
            </a:r>
            <a:r>
              <a:rPr lang="en-GB" dirty="0"/>
              <a:t> </a:t>
            </a:r>
            <a:r>
              <a:rPr lang="en-GB" b="1" dirty="0"/>
              <a:t>function</a:t>
            </a:r>
            <a:r>
              <a:rPr lang="en-GB" dirty="0"/>
              <a:t> gets triggered </a:t>
            </a:r>
            <a:r>
              <a:rPr lang="en-GB" b="1" dirty="0"/>
              <a:t>above</a:t>
            </a:r>
            <a:r>
              <a:rPr lang="en-GB" dirty="0"/>
              <a:t> a </a:t>
            </a:r>
            <a:r>
              <a:rPr lang="en-GB" b="1" dirty="0"/>
              <a:t>certain</a:t>
            </a:r>
            <a:r>
              <a:rPr lang="en-GB" dirty="0"/>
              <a:t> </a:t>
            </a:r>
            <a:r>
              <a:rPr lang="en-GB" b="1" dirty="0"/>
              <a:t>value</a:t>
            </a:r>
            <a:r>
              <a:rPr lang="en-GB" dirty="0"/>
              <a:t> of the neuron output; else it outputs </a:t>
            </a:r>
            <a:r>
              <a:rPr lang="en-GB" b="1" dirty="0"/>
              <a:t>zero</a:t>
            </a:r>
            <a:r>
              <a:rPr lang="en-GB" dirty="0"/>
              <a:t>. </a:t>
            </a:r>
          </a:p>
          <a:p>
            <a:r>
              <a:rPr lang="en-GB" b="1" dirty="0"/>
              <a:t>Sign</a:t>
            </a:r>
            <a:r>
              <a:rPr lang="en-GB" dirty="0"/>
              <a:t> </a:t>
            </a:r>
            <a:r>
              <a:rPr lang="en-GB" b="1" dirty="0"/>
              <a:t>function</a:t>
            </a:r>
            <a:r>
              <a:rPr lang="en-GB" dirty="0"/>
              <a:t> outputs </a:t>
            </a:r>
            <a:r>
              <a:rPr lang="en-GB" b="1" dirty="0"/>
              <a:t>+1 or -1 </a:t>
            </a:r>
            <a:r>
              <a:rPr lang="en-GB" dirty="0"/>
              <a:t>depending on whether neuron output is greater than zero or not. </a:t>
            </a:r>
          </a:p>
          <a:p>
            <a:r>
              <a:rPr lang="en-GB" b="1" dirty="0"/>
              <a:t>Sigmoid</a:t>
            </a:r>
            <a:r>
              <a:rPr lang="en-GB" dirty="0"/>
              <a:t> </a:t>
            </a:r>
            <a:r>
              <a:rPr lang="en-GB" b="1" dirty="0"/>
              <a:t>function</a:t>
            </a:r>
            <a:r>
              <a:rPr lang="en-GB" dirty="0"/>
              <a:t> is the S-curve and outputs a value between </a:t>
            </a:r>
            <a:r>
              <a:rPr lang="en-GB" b="1" dirty="0"/>
              <a:t>0 and 1.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538836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EBD8-94F9-4E42-4CFF-CDF3BBE3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let’s try to teach a </a:t>
            </a:r>
            <a:r>
              <a:rPr lang="en-GB" b="1" dirty="0"/>
              <a:t>perceptron</a:t>
            </a:r>
            <a:r>
              <a:rPr lang="en-GB" dirty="0"/>
              <a:t> how </a:t>
            </a:r>
            <a:r>
              <a:rPr lang="en-GB" b="1" dirty="0"/>
              <a:t>AND</a:t>
            </a:r>
            <a:r>
              <a:rPr lang="en-GB" dirty="0"/>
              <a:t> gate works!</a:t>
            </a:r>
            <a:endParaRPr lang="tr-T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1B7B616-70B5-332C-14CF-EA36BE024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948531"/>
              </p:ext>
            </p:extLst>
          </p:nvPr>
        </p:nvGraphicFramePr>
        <p:xfrm>
          <a:off x="838200" y="1825625"/>
          <a:ext cx="4545564" cy="18542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36391">
                  <a:extLst>
                    <a:ext uri="{9D8B030D-6E8A-4147-A177-3AD203B41FA5}">
                      <a16:colId xmlns:a16="http://schemas.microsoft.com/office/drawing/2014/main" val="1970303444"/>
                    </a:ext>
                  </a:extLst>
                </a:gridCol>
                <a:gridCol w="1136391">
                  <a:extLst>
                    <a:ext uri="{9D8B030D-6E8A-4147-A177-3AD203B41FA5}">
                      <a16:colId xmlns:a16="http://schemas.microsoft.com/office/drawing/2014/main" val="3157532626"/>
                    </a:ext>
                  </a:extLst>
                </a:gridCol>
                <a:gridCol w="2272782">
                  <a:extLst>
                    <a:ext uri="{9D8B030D-6E8A-4147-A177-3AD203B41FA5}">
                      <a16:colId xmlns:a16="http://schemas.microsoft.com/office/drawing/2014/main" val="1538417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INPUT 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INPUT 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OUTPUT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29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72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99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08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75988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A70606EA-E1CF-AA9D-A803-1D25949ABECD}"/>
              </a:ext>
            </a:extLst>
          </p:cNvPr>
          <p:cNvSpPr/>
          <p:nvPr/>
        </p:nvSpPr>
        <p:spPr>
          <a:xfrm>
            <a:off x="6808238" y="2507075"/>
            <a:ext cx="4124131" cy="17075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BEF722-6A2C-46BF-8C63-A23458763172}"/>
              </a:ext>
            </a:extLst>
          </p:cNvPr>
          <p:cNvCxnSpPr/>
          <p:nvPr/>
        </p:nvCxnSpPr>
        <p:spPr>
          <a:xfrm>
            <a:off x="6096000" y="1857715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FB0DBE-CEEC-C86D-FBEC-419AEF3D75BC}"/>
              </a:ext>
            </a:extLst>
          </p:cNvPr>
          <p:cNvCxnSpPr>
            <a:cxnSpLocks/>
          </p:cNvCxnSpPr>
          <p:nvPr/>
        </p:nvCxnSpPr>
        <p:spPr>
          <a:xfrm flipV="1">
            <a:off x="5701004" y="4024179"/>
            <a:ext cx="1188098" cy="732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7F1639-C27C-DCF0-F287-396DDB8E31D4}"/>
                  </a:ext>
                </a:extLst>
              </p:cNvPr>
              <p:cNvSpPr txBox="1"/>
              <p:nvPr/>
            </p:nvSpPr>
            <p:spPr>
              <a:xfrm>
                <a:off x="7473821" y="3176159"/>
                <a:ext cx="30511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(∑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  <a:endParaRPr lang="tr-TR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7F1639-C27C-DCF0-F287-396DDB8E3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821" y="3176159"/>
                <a:ext cx="3051109" cy="369332"/>
              </a:xfrm>
              <a:prstGeom prst="rect">
                <a:avLst/>
              </a:prstGeom>
              <a:blipFill>
                <a:blip r:embed="rId2"/>
                <a:stretch>
                  <a:fillRect l="-599" t="-8197" b="-2459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Down 10">
            <a:extLst>
              <a:ext uri="{FF2B5EF4-FFF2-40B4-BE49-F238E27FC236}">
                <a16:creationId xmlns:a16="http://schemas.microsoft.com/office/drawing/2014/main" id="{116249EE-315D-BE83-EEFA-017479D04009}"/>
              </a:ext>
            </a:extLst>
          </p:cNvPr>
          <p:cNvSpPr/>
          <p:nvPr/>
        </p:nvSpPr>
        <p:spPr>
          <a:xfrm>
            <a:off x="8627987" y="439445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7DB30F-688D-1408-AD7E-CD9A40309226}"/>
              </a:ext>
            </a:extLst>
          </p:cNvPr>
          <p:cNvSpPr txBox="1"/>
          <p:nvPr/>
        </p:nvSpPr>
        <p:spPr>
          <a:xfrm>
            <a:off x="8531290" y="5478099"/>
            <a:ext cx="1695061" cy="379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tr-T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E85D2D-553E-EE37-D801-1CC8B22FC437}"/>
              </a:ext>
            </a:extLst>
          </p:cNvPr>
          <p:cNvSpPr txBox="1"/>
          <p:nvPr/>
        </p:nvSpPr>
        <p:spPr>
          <a:xfrm>
            <a:off x="5194041" y="4693970"/>
            <a:ext cx="1695061" cy="379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Input 2</a:t>
            </a:r>
            <a:endParaRPr lang="tr-T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7E3215-309A-9E1D-1A9E-F2F308599278}"/>
              </a:ext>
            </a:extLst>
          </p:cNvPr>
          <p:cNvSpPr txBox="1"/>
          <p:nvPr/>
        </p:nvSpPr>
        <p:spPr>
          <a:xfrm>
            <a:off x="6248400" y="1598645"/>
            <a:ext cx="1695061" cy="379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Input 1</a:t>
            </a:r>
            <a:endParaRPr lang="tr-T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58F6F4-38D5-4093-B9A5-7612AA83CB89}"/>
              </a:ext>
            </a:extLst>
          </p:cNvPr>
          <p:cNvSpPr txBox="1"/>
          <p:nvPr/>
        </p:nvSpPr>
        <p:spPr>
          <a:xfrm>
            <a:off x="5822302" y="2267339"/>
            <a:ext cx="569167" cy="379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0.3</a:t>
            </a:r>
            <a:endParaRPr lang="tr-T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1867B4-27F5-CF10-BF3E-53BDA96390A0}"/>
              </a:ext>
            </a:extLst>
          </p:cNvPr>
          <p:cNvSpPr txBox="1"/>
          <p:nvPr/>
        </p:nvSpPr>
        <p:spPr>
          <a:xfrm>
            <a:off x="6029132" y="4011026"/>
            <a:ext cx="569167" cy="379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-0.1</a:t>
            </a:r>
            <a:endParaRPr lang="tr-T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B17481-1488-351A-5028-BBB0A69FBCB4}"/>
              </a:ext>
            </a:extLst>
          </p:cNvPr>
          <p:cNvSpPr txBox="1"/>
          <p:nvPr/>
        </p:nvSpPr>
        <p:spPr>
          <a:xfrm>
            <a:off x="838200" y="4024179"/>
            <a:ext cx="3425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THRESHOLD FOR THE STEP FUNCTION = 0.2 (</a:t>
            </a:r>
            <a:r>
              <a:rPr lang="el-GR" b="1" dirty="0"/>
              <a:t>θ</a:t>
            </a:r>
            <a:r>
              <a:rPr lang="en-GB" b="1" dirty="0"/>
              <a:t>)</a:t>
            </a:r>
          </a:p>
          <a:p>
            <a:endParaRPr lang="en-GB" b="1" dirty="0"/>
          </a:p>
          <a:p>
            <a:r>
              <a:rPr lang="en-GB" b="1" dirty="0"/>
              <a:t>Assume that bias equals to 0</a:t>
            </a:r>
          </a:p>
          <a:p>
            <a:endParaRPr lang="en-GB" b="1" dirty="0"/>
          </a:p>
          <a:p>
            <a:r>
              <a:rPr lang="en-GB" b="1" dirty="0"/>
              <a:t>Learning rate equals to 0.1 (</a:t>
            </a:r>
            <a:r>
              <a:rPr lang="el-GR" b="1" dirty="0"/>
              <a:t>α</a:t>
            </a:r>
            <a:r>
              <a:rPr lang="en-GB" b="1" dirty="0"/>
              <a:t>)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1980455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EBD8-94F9-4E42-4CFF-CDF3BBE3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let’s try to teach a </a:t>
            </a:r>
            <a:r>
              <a:rPr lang="en-GB" b="1" dirty="0"/>
              <a:t>perceptron</a:t>
            </a:r>
            <a:r>
              <a:rPr lang="en-GB" dirty="0"/>
              <a:t> how </a:t>
            </a:r>
            <a:r>
              <a:rPr lang="en-GB" b="1" dirty="0"/>
              <a:t>AND</a:t>
            </a:r>
            <a:r>
              <a:rPr lang="en-GB" dirty="0"/>
              <a:t> gate works!</a:t>
            </a:r>
            <a:endParaRPr lang="tr-T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1B7B616-70B5-332C-14CF-EA36BE024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32217"/>
              </p:ext>
            </p:extLst>
          </p:nvPr>
        </p:nvGraphicFramePr>
        <p:xfrm>
          <a:off x="838200" y="1825625"/>
          <a:ext cx="4545564" cy="18542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36391">
                  <a:extLst>
                    <a:ext uri="{9D8B030D-6E8A-4147-A177-3AD203B41FA5}">
                      <a16:colId xmlns:a16="http://schemas.microsoft.com/office/drawing/2014/main" val="1970303444"/>
                    </a:ext>
                  </a:extLst>
                </a:gridCol>
                <a:gridCol w="1136391">
                  <a:extLst>
                    <a:ext uri="{9D8B030D-6E8A-4147-A177-3AD203B41FA5}">
                      <a16:colId xmlns:a16="http://schemas.microsoft.com/office/drawing/2014/main" val="3157532626"/>
                    </a:ext>
                  </a:extLst>
                </a:gridCol>
                <a:gridCol w="2272782">
                  <a:extLst>
                    <a:ext uri="{9D8B030D-6E8A-4147-A177-3AD203B41FA5}">
                      <a16:colId xmlns:a16="http://schemas.microsoft.com/office/drawing/2014/main" val="1538417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INPUT 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INPUT 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DESIRED OUTPUT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29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72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99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08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75988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2929FB0B-C810-856A-7116-341E76230E27}"/>
              </a:ext>
            </a:extLst>
          </p:cNvPr>
          <p:cNvSpPr/>
          <p:nvPr/>
        </p:nvSpPr>
        <p:spPr>
          <a:xfrm>
            <a:off x="4894560" y="214604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8AAFC78-9FC7-2BC8-D5C9-D4FB3B326F6A}"/>
                  </a:ext>
                </a:extLst>
              </p14:cNvPr>
              <p14:cNvContentPartPr/>
              <p14:nvPr/>
            </p14:nvContentPartPr>
            <p14:xfrm>
              <a:off x="6988768" y="224867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8AAFC78-9FC7-2BC8-D5C9-D4FB3B326F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2768" y="2032670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85B4A39-F2D4-2F0D-34C6-A38964DABBAA}"/>
              </a:ext>
            </a:extLst>
          </p:cNvPr>
          <p:cNvSpPr txBox="1"/>
          <p:nvPr/>
        </p:nvSpPr>
        <p:spPr>
          <a:xfrm>
            <a:off x="6001139" y="1600347"/>
            <a:ext cx="535266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0*0.3 + 0*(-0.1) = 0 </a:t>
            </a:r>
            <a:r>
              <a:rPr lang="en-GB" sz="3200" dirty="0">
                <a:sym typeface="Wingdings" panose="05000000000000000000" pitchFamily="2" charset="2"/>
              </a:rPr>
              <a:t> 0&lt;0.2  Predicted  Output =0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sz="2800" dirty="0">
                <a:sym typeface="Wingdings" panose="05000000000000000000" pitchFamily="2" charset="2"/>
              </a:rPr>
              <a:t>Since Pr. Output=Desired Output </a:t>
            </a:r>
            <a:r>
              <a:rPr lang="en-GB" sz="2800" b="1" dirty="0">
                <a:sym typeface="Wingdings" panose="05000000000000000000" pitchFamily="2" charset="2"/>
              </a:rPr>
              <a:t>no</a:t>
            </a:r>
            <a:r>
              <a:rPr lang="en-GB" sz="2800" dirty="0">
                <a:sym typeface="Wingdings" panose="05000000000000000000" pitchFamily="2" charset="2"/>
              </a:rPr>
              <a:t> need to update weights!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576528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EBD8-94F9-4E42-4CFF-CDF3BBE3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let’s try to teach a </a:t>
            </a:r>
            <a:r>
              <a:rPr lang="en-GB" b="1" dirty="0"/>
              <a:t>perceptron</a:t>
            </a:r>
            <a:r>
              <a:rPr lang="en-GB" dirty="0"/>
              <a:t> how </a:t>
            </a:r>
            <a:r>
              <a:rPr lang="en-GB" b="1" dirty="0"/>
              <a:t>AND</a:t>
            </a:r>
            <a:r>
              <a:rPr lang="en-GB" dirty="0"/>
              <a:t> gate works!</a:t>
            </a:r>
            <a:endParaRPr lang="tr-T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1B7B616-70B5-332C-14CF-EA36BE0242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545564" cy="18542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36391">
                  <a:extLst>
                    <a:ext uri="{9D8B030D-6E8A-4147-A177-3AD203B41FA5}">
                      <a16:colId xmlns:a16="http://schemas.microsoft.com/office/drawing/2014/main" val="1970303444"/>
                    </a:ext>
                  </a:extLst>
                </a:gridCol>
                <a:gridCol w="1136391">
                  <a:extLst>
                    <a:ext uri="{9D8B030D-6E8A-4147-A177-3AD203B41FA5}">
                      <a16:colId xmlns:a16="http://schemas.microsoft.com/office/drawing/2014/main" val="3157532626"/>
                    </a:ext>
                  </a:extLst>
                </a:gridCol>
                <a:gridCol w="2272782">
                  <a:extLst>
                    <a:ext uri="{9D8B030D-6E8A-4147-A177-3AD203B41FA5}">
                      <a16:colId xmlns:a16="http://schemas.microsoft.com/office/drawing/2014/main" val="1538417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INPUT 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INPUT 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DESIRED OUTPUT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29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72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99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08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75988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2929FB0B-C810-856A-7116-341E76230E27}"/>
              </a:ext>
            </a:extLst>
          </p:cNvPr>
          <p:cNvSpPr/>
          <p:nvPr/>
        </p:nvSpPr>
        <p:spPr>
          <a:xfrm>
            <a:off x="4718654" y="251040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8AAFC78-9FC7-2BC8-D5C9-D4FB3B326F6A}"/>
                  </a:ext>
                </a:extLst>
              </p14:cNvPr>
              <p14:cNvContentPartPr/>
              <p14:nvPr/>
            </p14:nvContentPartPr>
            <p14:xfrm>
              <a:off x="6988768" y="224867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8AAFC78-9FC7-2BC8-D5C9-D4FB3B326F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2768" y="2032670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E7A6B88-5066-2165-BA8C-53085F893781}"/>
              </a:ext>
            </a:extLst>
          </p:cNvPr>
          <p:cNvSpPr txBox="1"/>
          <p:nvPr/>
        </p:nvSpPr>
        <p:spPr>
          <a:xfrm>
            <a:off x="5697062" y="1928641"/>
            <a:ext cx="61808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0*0.3 +  1*(-0.1) =-0.1&lt;0.2 </a:t>
            </a:r>
            <a:r>
              <a:rPr lang="en-GB" sz="3600" dirty="0">
                <a:sym typeface="Wingdings" panose="05000000000000000000" pitchFamily="2" charset="2"/>
              </a:rPr>
              <a:t> Pred. output=</a:t>
            </a:r>
            <a:r>
              <a:rPr lang="en-GB" sz="3600" b="1" dirty="0">
                <a:sym typeface="Wingdings" panose="05000000000000000000" pitchFamily="2" charset="2"/>
              </a:rPr>
              <a:t>0</a:t>
            </a:r>
          </a:p>
          <a:p>
            <a:endParaRPr lang="en-GB" sz="2400" dirty="0">
              <a:sym typeface="Wingdings" panose="05000000000000000000" pitchFamily="2" charset="2"/>
            </a:endParaRPr>
          </a:p>
          <a:p>
            <a:r>
              <a:rPr lang="en-GB" sz="2400" b="1" dirty="0">
                <a:sym typeface="Wingdings" panose="05000000000000000000" pitchFamily="2" charset="2"/>
              </a:rPr>
              <a:t>Since Pr. Output=Desired Output no need to update weights!</a:t>
            </a:r>
            <a:endParaRPr lang="tr-TR" sz="2400" b="1" dirty="0"/>
          </a:p>
          <a:p>
            <a:endParaRPr lang="en-GB" sz="2400" dirty="0">
              <a:sym typeface="Wingdings" panose="05000000000000000000" pitchFamily="2" charset="2"/>
            </a:endParaRPr>
          </a:p>
          <a:p>
            <a:endParaRPr lang="en-GB" sz="2400" dirty="0">
              <a:sym typeface="Wingdings" panose="05000000000000000000" pitchFamily="2" charset="2"/>
            </a:endParaRPr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815264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EBD8-94F9-4E42-4CFF-CDF3BBE3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let’s try to teach a </a:t>
            </a:r>
            <a:r>
              <a:rPr lang="en-GB" b="1" dirty="0"/>
              <a:t>perceptron</a:t>
            </a:r>
            <a:r>
              <a:rPr lang="en-GB" dirty="0"/>
              <a:t> how </a:t>
            </a:r>
            <a:r>
              <a:rPr lang="en-GB" b="1" dirty="0"/>
              <a:t>AND</a:t>
            </a:r>
            <a:r>
              <a:rPr lang="en-GB" dirty="0"/>
              <a:t> gate works!</a:t>
            </a:r>
            <a:endParaRPr lang="tr-T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1B7B616-70B5-332C-14CF-EA36BE0242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545564" cy="18542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36391">
                  <a:extLst>
                    <a:ext uri="{9D8B030D-6E8A-4147-A177-3AD203B41FA5}">
                      <a16:colId xmlns:a16="http://schemas.microsoft.com/office/drawing/2014/main" val="1970303444"/>
                    </a:ext>
                  </a:extLst>
                </a:gridCol>
                <a:gridCol w="1136391">
                  <a:extLst>
                    <a:ext uri="{9D8B030D-6E8A-4147-A177-3AD203B41FA5}">
                      <a16:colId xmlns:a16="http://schemas.microsoft.com/office/drawing/2014/main" val="3157532626"/>
                    </a:ext>
                  </a:extLst>
                </a:gridCol>
                <a:gridCol w="2272782">
                  <a:extLst>
                    <a:ext uri="{9D8B030D-6E8A-4147-A177-3AD203B41FA5}">
                      <a16:colId xmlns:a16="http://schemas.microsoft.com/office/drawing/2014/main" val="1538417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INPUT 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INPUT 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DESIRED OUTPUT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29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72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99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08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75988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2929FB0B-C810-856A-7116-341E76230E27}"/>
              </a:ext>
            </a:extLst>
          </p:cNvPr>
          <p:cNvSpPr/>
          <p:nvPr/>
        </p:nvSpPr>
        <p:spPr>
          <a:xfrm>
            <a:off x="4718654" y="286497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8AAFC78-9FC7-2BC8-D5C9-D4FB3B326F6A}"/>
                  </a:ext>
                </a:extLst>
              </p14:cNvPr>
              <p14:cNvContentPartPr/>
              <p14:nvPr/>
            </p14:nvContentPartPr>
            <p14:xfrm>
              <a:off x="6988768" y="224867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8AAFC78-9FC7-2BC8-D5C9-D4FB3B326F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2768" y="2032670"/>
                <a:ext cx="72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7A6B88-5066-2165-BA8C-53085F893781}"/>
                  </a:ext>
                </a:extLst>
              </p:cNvPr>
              <p:cNvSpPr txBox="1"/>
              <p:nvPr/>
            </p:nvSpPr>
            <p:spPr>
              <a:xfrm>
                <a:off x="5697062" y="1928641"/>
                <a:ext cx="6180807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1*0.3 +  0*(-0.1) =0.3&gt;0.2 </a:t>
                </a:r>
                <a:r>
                  <a:rPr lang="en-GB" sz="3600" dirty="0">
                    <a:sym typeface="Wingdings" panose="05000000000000000000" pitchFamily="2" charset="2"/>
                  </a:rPr>
                  <a:t> Pred. output=</a:t>
                </a:r>
                <a:r>
                  <a:rPr lang="en-GB" sz="3600" b="1" dirty="0">
                    <a:sym typeface="Wingdings" panose="05000000000000000000" pitchFamily="2" charset="2"/>
                  </a:rPr>
                  <a:t>1</a:t>
                </a:r>
              </a:p>
              <a:p>
                <a:endParaRPr lang="en-GB" sz="2400" dirty="0">
                  <a:sym typeface="Wingdings" panose="05000000000000000000" pitchFamily="2" charset="2"/>
                </a:endParaRPr>
              </a:p>
              <a:p>
                <a:r>
                  <a:rPr lang="en-GB" sz="2400" b="1" dirty="0">
                    <a:sym typeface="Wingdings" panose="05000000000000000000" pitchFamily="2" charset="2"/>
                  </a:rPr>
                  <a:t>Since Pr. Output != Desired Output  NEED to update weights!</a:t>
                </a:r>
                <a:endParaRPr lang="tr-TR" sz="2400" b="1" dirty="0"/>
              </a:p>
              <a:p>
                <a:endParaRPr lang="en-GB" sz="2400" dirty="0">
                  <a:sym typeface="Wingdings" panose="05000000000000000000" pitchFamily="2" charset="2"/>
                </a:endParaRPr>
              </a:p>
              <a:p>
                <a:r>
                  <a:rPr lang="en-GB" sz="24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Error (e) = Desired output- predicted output</a:t>
                </a:r>
              </a:p>
              <a:p>
                <a:r>
                  <a:rPr lang="en-GB" sz="24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e= 0-1=-1</a:t>
                </a:r>
              </a:p>
              <a:p>
                <a:endParaRPr lang="en-GB" sz="2400" b="1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r>
                  <a:rPr lang="en-GB" sz="24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=∝∗</m:t>
                    </m:r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𝒙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𝒆</m:t>
                    </m:r>
                  </m:oMath>
                </a14:m>
                <a:endParaRPr lang="en-GB" sz="3200" b="1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endParaRPr lang="en-GB" sz="2400" dirty="0">
                  <a:sym typeface="Wingdings" panose="05000000000000000000" pitchFamily="2" charset="2"/>
                </a:endParaRPr>
              </a:p>
              <a:p>
                <a:endParaRPr lang="tr-TR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7A6B88-5066-2165-BA8C-53085F893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062" y="1928641"/>
                <a:ext cx="6180807" cy="5016758"/>
              </a:xfrm>
              <a:prstGeom prst="rect">
                <a:avLst/>
              </a:prstGeom>
              <a:blipFill>
                <a:blip r:embed="rId4"/>
                <a:stretch>
                  <a:fillRect l="-3060" t="-206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569364A1-62D0-54B6-823F-2E4AAA637E4C}"/>
              </a:ext>
            </a:extLst>
          </p:cNvPr>
          <p:cNvSpPr/>
          <p:nvPr/>
        </p:nvSpPr>
        <p:spPr>
          <a:xfrm rot="10800000">
            <a:off x="5383764" y="610222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C491A9-875E-AF07-12B3-79BB8FC547BB}"/>
                  </a:ext>
                </a:extLst>
              </p:cNvPr>
              <p:cNvSpPr txBox="1"/>
              <p:nvPr/>
            </p:nvSpPr>
            <p:spPr>
              <a:xfrm>
                <a:off x="130629" y="3834882"/>
                <a:ext cx="5085184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𝟏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𝟏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d>
                      <m:d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=-0.1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∆</m:t>
                      </m:r>
                      <m:sSub>
                        <m:sSubPr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𝒘</m:t>
                          </m:r>
                        </m:e>
                        <m:sub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𝟐</m:t>
                          </m:r>
                        </m:sub>
                      </m:sSub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𝟎</m:t>
                      </m:r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.</m:t>
                      </m:r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∗</m:t>
                      </m:r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𝟎</m:t>
                      </m:r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∗</m:t>
                      </m:r>
                      <m:d>
                        <m:dPr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e>
                      </m:d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𝟎</m:t>
                      </m:r>
                    </m:oMath>
                  </m:oMathPara>
                </a14:m>
                <a:endParaRPr lang="en-GB" sz="3200" dirty="0"/>
              </a:p>
              <a:p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𝒏𝒆𝒘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sz="3200" dirty="0"/>
                  <a:t> =</a:t>
                </a:r>
                <a:r>
                  <a:rPr lang="en-GB" sz="3200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sz="3200" dirty="0"/>
                  <a:t>+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𝟑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𝟏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𝟐</m:t>
                    </m:r>
                  </m:oMath>
                </a14:m>
                <a:endParaRPr lang="en-GB" sz="3200" i="1" dirty="0"/>
              </a:p>
              <a:p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𝒏𝒆𝒘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sz="3200" dirty="0"/>
                  <a:t> =</a:t>
                </a:r>
                <a:r>
                  <a:rPr lang="en-GB" sz="3200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sz="3200" dirty="0"/>
                  <a:t>+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</m:sSub>
                    <m:r>
                      <a:rPr lang="en-GB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=−0.1+0=−0.1</m:t>
                    </m:r>
                  </m:oMath>
                </a14:m>
                <a:endParaRPr lang="tr-TR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C491A9-875E-AF07-12B3-79BB8FC54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29" y="3834882"/>
                <a:ext cx="5085184" cy="3046988"/>
              </a:xfrm>
              <a:prstGeom prst="rect">
                <a:avLst/>
              </a:prstGeom>
              <a:blipFill>
                <a:blip r:embed="rId5"/>
                <a:stretch>
                  <a:fillRect t="-240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428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EBD8-94F9-4E42-4CFF-CDF3BBE3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let’s try to teach a </a:t>
            </a:r>
            <a:r>
              <a:rPr lang="en-GB" b="1" dirty="0"/>
              <a:t>perceptron</a:t>
            </a:r>
            <a:r>
              <a:rPr lang="en-GB" dirty="0"/>
              <a:t> how </a:t>
            </a:r>
            <a:r>
              <a:rPr lang="en-GB" b="1" dirty="0"/>
              <a:t>AND</a:t>
            </a:r>
            <a:r>
              <a:rPr lang="en-GB" dirty="0"/>
              <a:t> gate works!</a:t>
            </a:r>
            <a:endParaRPr lang="tr-T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1B7B616-70B5-332C-14CF-EA36BE024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020705"/>
              </p:ext>
            </p:extLst>
          </p:nvPr>
        </p:nvGraphicFramePr>
        <p:xfrm>
          <a:off x="838200" y="1825625"/>
          <a:ext cx="4545564" cy="18542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36391">
                  <a:extLst>
                    <a:ext uri="{9D8B030D-6E8A-4147-A177-3AD203B41FA5}">
                      <a16:colId xmlns:a16="http://schemas.microsoft.com/office/drawing/2014/main" val="1970303444"/>
                    </a:ext>
                  </a:extLst>
                </a:gridCol>
                <a:gridCol w="1136391">
                  <a:extLst>
                    <a:ext uri="{9D8B030D-6E8A-4147-A177-3AD203B41FA5}">
                      <a16:colId xmlns:a16="http://schemas.microsoft.com/office/drawing/2014/main" val="3157532626"/>
                    </a:ext>
                  </a:extLst>
                </a:gridCol>
                <a:gridCol w="2272782">
                  <a:extLst>
                    <a:ext uri="{9D8B030D-6E8A-4147-A177-3AD203B41FA5}">
                      <a16:colId xmlns:a16="http://schemas.microsoft.com/office/drawing/2014/main" val="1538417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INPUT 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INPUT 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DESIRED OUTPUT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29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72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99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 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08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 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75988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2929FB0B-C810-856A-7116-341E76230E27}"/>
              </a:ext>
            </a:extLst>
          </p:cNvPr>
          <p:cNvSpPr/>
          <p:nvPr/>
        </p:nvSpPr>
        <p:spPr>
          <a:xfrm>
            <a:off x="4562005" y="319519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8AAFC78-9FC7-2BC8-D5C9-D4FB3B326F6A}"/>
                  </a:ext>
                </a:extLst>
              </p14:cNvPr>
              <p14:cNvContentPartPr/>
              <p14:nvPr/>
            </p14:nvContentPartPr>
            <p14:xfrm>
              <a:off x="6988768" y="224867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8AAFC78-9FC7-2BC8-D5C9-D4FB3B326F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2768" y="2032670"/>
                <a:ext cx="72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7A6B88-5066-2165-BA8C-53085F893781}"/>
                  </a:ext>
                </a:extLst>
              </p:cNvPr>
              <p:cNvSpPr txBox="1"/>
              <p:nvPr/>
            </p:nvSpPr>
            <p:spPr>
              <a:xfrm>
                <a:off x="5697062" y="1928641"/>
                <a:ext cx="6180807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1*</a:t>
                </a:r>
                <a:r>
                  <a:rPr lang="en-GB" sz="3600" b="1" dirty="0">
                    <a:solidFill>
                      <a:srgbClr val="FF0000"/>
                    </a:solidFill>
                  </a:rPr>
                  <a:t>0.2 </a:t>
                </a:r>
                <a:r>
                  <a:rPr lang="en-GB" sz="3600" b="1" dirty="0"/>
                  <a:t>+ 1*(-0.1)=0.1&lt;0.2 </a:t>
                </a:r>
                <a:r>
                  <a:rPr lang="en-GB" sz="3600" b="1" dirty="0">
                    <a:sym typeface="Wingdings" panose="05000000000000000000" pitchFamily="2" charset="2"/>
                  </a:rPr>
                  <a:t> pr. Output= 0</a:t>
                </a:r>
              </a:p>
              <a:p>
                <a:r>
                  <a:rPr lang="en-GB" sz="2400" b="1" dirty="0">
                    <a:sym typeface="Wingdings" panose="05000000000000000000" pitchFamily="2" charset="2"/>
                  </a:rPr>
                  <a:t>Since Pr. Output != Desired Output  </a:t>
                </a:r>
                <a:r>
                  <a:rPr lang="en-GB" sz="2400" b="1" u="sng" dirty="0">
                    <a:sym typeface="Wingdings" panose="05000000000000000000" pitchFamily="2" charset="2"/>
                  </a:rPr>
                  <a:t>NEED</a:t>
                </a:r>
                <a:r>
                  <a:rPr lang="en-GB" sz="2400" b="1" dirty="0">
                    <a:sym typeface="Wingdings" panose="05000000000000000000" pitchFamily="2" charset="2"/>
                  </a:rPr>
                  <a:t> to update weights! (1 != 0)</a:t>
                </a:r>
              </a:p>
              <a:p>
                <a:endParaRPr lang="en-GB" sz="2400" b="1" dirty="0"/>
              </a:p>
              <a:p>
                <a:r>
                  <a:rPr lang="en-GB" sz="24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e= 1-0=+1</a:t>
                </a:r>
              </a:p>
              <a:p>
                <a:endParaRPr lang="en-GB" sz="2400" b="1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∆</m:t>
                      </m:r>
                      <m:sSub>
                        <m:sSub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𝒘</m:t>
                          </m:r>
                        </m:e>
                        <m:sub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b>
                      </m:sSub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=∝∗</m:t>
                      </m:r>
                      <m:sSub>
                        <m:sSub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b>
                      </m:sSub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∗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𝒆</m:t>
                      </m:r>
                    </m:oMath>
                  </m:oMathPara>
                </a14:m>
                <a:endParaRPr lang="en-GB" sz="2400" b="1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endParaRPr lang="tr-TR" sz="2400" b="1" dirty="0"/>
              </a:p>
              <a:p>
                <a:endParaRPr lang="en-GB" sz="2400" b="1" dirty="0">
                  <a:sym typeface="Wingdings" panose="05000000000000000000" pitchFamily="2" charset="2"/>
                </a:endParaRPr>
              </a:p>
              <a:p>
                <a:endParaRPr lang="tr-TR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7A6B88-5066-2165-BA8C-53085F893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062" y="1928641"/>
                <a:ext cx="6180807" cy="4524315"/>
              </a:xfrm>
              <a:prstGeom prst="rect">
                <a:avLst/>
              </a:prstGeom>
              <a:blipFill>
                <a:blip r:embed="rId4"/>
                <a:stretch>
                  <a:fillRect l="-3060" t="-2288" r="-19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>
            <a:extLst>
              <a:ext uri="{FF2B5EF4-FFF2-40B4-BE49-F238E27FC236}">
                <a16:creationId xmlns:a16="http://schemas.microsoft.com/office/drawing/2014/main" id="{468CA5A5-5984-9236-D80D-EDF05A4687AC}"/>
              </a:ext>
            </a:extLst>
          </p:cNvPr>
          <p:cNvSpPr/>
          <p:nvPr/>
        </p:nvSpPr>
        <p:spPr>
          <a:xfrm rot="10800000">
            <a:off x="5467740" y="534644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609387-A892-187F-611D-A1E6167760A6}"/>
                  </a:ext>
                </a:extLst>
              </p:cNvPr>
              <p:cNvSpPr txBox="1"/>
              <p:nvPr/>
            </p:nvSpPr>
            <p:spPr>
              <a:xfrm>
                <a:off x="221602" y="3984001"/>
                <a:ext cx="5246137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sSub>
                      <m:sSubPr>
                        <m:ctrlP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𝟏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𝟏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d>
                      <m:dPr>
                        <m:ctrlP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</m:oMath>
                </a14:m>
                <a:r>
                  <a:rPr lang="en-GB" sz="2800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=+0.1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∆</m:t>
                      </m:r>
                      <m:sSub>
                        <m:sSubPr>
                          <m:ctrlP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𝒘</m:t>
                          </m:r>
                        </m:e>
                        <m:sub>
                          <m: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𝟐</m:t>
                          </m:r>
                        </m:sub>
                      </m:sSub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𝟎</m:t>
                      </m:r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.</m:t>
                      </m:r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∗</m:t>
                      </m:r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∗</m:t>
                      </m:r>
                      <m:d>
                        <m:dPr>
                          <m:ctrlP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e>
                      </m:d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=+</m:t>
                      </m:r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𝟎</m:t>
                      </m:r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.</m:t>
                      </m:r>
                      <m:r>
                        <a:rPr lang="en-GB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</m:oMath>
                  </m:oMathPara>
                </a14:m>
                <a:endParaRPr lang="en-GB" sz="2800" dirty="0"/>
              </a:p>
              <a:p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𝒏𝒆𝒘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sz="2800" dirty="0"/>
                  <a:t> =</a:t>
                </a:r>
                <a:r>
                  <a:rPr lang="en-GB" sz="2800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sz="2800" dirty="0"/>
                  <a:t>+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sSub>
                      <m:sSubPr>
                        <m:ctrlP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𝟐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𝟏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𝟑</m:t>
                    </m:r>
                  </m:oMath>
                </a14:m>
                <a:endParaRPr lang="en-GB" sz="2800" i="1" dirty="0"/>
              </a:p>
              <a:p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𝒏𝒆𝒘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sz="2800" dirty="0"/>
                  <a:t> =</a:t>
                </a:r>
                <a:r>
                  <a:rPr lang="en-GB" sz="2800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sz="2800" dirty="0"/>
                  <a:t>+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sSub>
                      <m:sSubPr>
                        <m:ctrlP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</m:sSub>
                    <m:r>
                      <a:rPr lang="en-GB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=−0.1+0.1=0</m:t>
                    </m:r>
                  </m:oMath>
                </a14:m>
                <a:endParaRPr lang="tr-TR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609387-A892-187F-611D-A1E616776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02" y="3984001"/>
                <a:ext cx="5246137" cy="2677656"/>
              </a:xfrm>
              <a:prstGeom prst="rect">
                <a:avLst/>
              </a:prstGeom>
              <a:blipFill>
                <a:blip r:embed="rId5"/>
                <a:stretch>
                  <a:fillRect t="-227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A47E86AD-1A4F-6483-AFC1-3126516A247F}"/>
              </a:ext>
            </a:extLst>
          </p:cNvPr>
          <p:cNvSpPr/>
          <p:nvPr/>
        </p:nvSpPr>
        <p:spPr>
          <a:xfrm>
            <a:off x="2372264" y="2944368"/>
            <a:ext cx="534838" cy="39250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684F352F-E4FB-8B7E-BBFC-1469F0ECC12C}"/>
              </a:ext>
            </a:extLst>
          </p:cNvPr>
          <p:cNvSpPr/>
          <p:nvPr/>
        </p:nvSpPr>
        <p:spPr>
          <a:xfrm>
            <a:off x="2344338" y="3312097"/>
            <a:ext cx="534838" cy="39250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466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EBD8-94F9-4E42-4CFF-CDF3BBE3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let’s try to teach a </a:t>
            </a:r>
            <a:r>
              <a:rPr lang="en-GB" b="1" dirty="0"/>
              <a:t>perceptron</a:t>
            </a:r>
            <a:r>
              <a:rPr lang="en-GB" dirty="0"/>
              <a:t> how </a:t>
            </a:r>
            <a:r>
              <a:rPr lang="en-GB" b="1" dirty="0"/>
              <a:t>AND</a:t>
            </a:r>
            <a:r>
              <a:rPr lang="en-GB" dirty="0"/>
              <a:t> gate works!</a:t>
            </a:r>
            <a:endParaRPr lang="tr-T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1B7B616-70B5-332C-14CF-EA36BE0242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545564" cy="18542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36391">
                  <a:extLst>
                    <a:ext uri="{9D8B030D-6E8A-4147-A177-3AD203B41FA5}">
                      <a16:colId xmlns:a16="http://schemas.microsoft.com/office/drawing/2014/main" val="1970303444"/>
                    </a:ext>
                  </a:extLst>
                </a:gridCol>
                <a:gridCol w="1136391">
                  <a:extLst>
                    <a:ext uri="{9D8B030D-6E8A-4147-A177-3AD203B41FA5}">
                      <a16:colId xmlns:a16="http://schemas.microsoft.com/office/drawing/2014/main" val="3157532626"/>
                    </a:ext>
                  </a:extLst>
                </a:gridCol>
                <a:gridCol w="2272782">
                  <a:extLst>
                    <a:ext uri="{9D8B030D-6E8A-4147-A177-3AD203B41FA5}">
                      <a16:colId xmlns:a16="http://schemas.microsoft.com/office/drawing/2014/main" val="1538417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INPUT 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INPUT 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DESIRED OUTPUT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29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72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99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08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759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8AAFC78-9FC7-2BC8-D5C9-D4FB3B326F6A}"/>
                  </a:ext>
                </a:extLst>
              </p14:cNvPr>
              <p14:cNvContentPartPr/>
              <p14:nvPr/>
            </p14:nvContentPartPr>
            <p14:xfrm>
              <a:off x="6988768" y="224867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8AAFC78-9FC7-2BC8-D5C9-D4FB3B326F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2768" y="2032670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E7A6B88-5066-2165-BA8C-53085F893781}"/>
              </a:ext>
            </a:extLst>
          </p:cNvPr>
          <p:cNvSpPr txBox="1"/>
          <p:nvPr/>
        </p:nvSpPr>
        <p:spPr>
          <a:xfrm>
            <a:off x="5697062" y="1928641"/>
            <a:ext cx="618080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All samples in the data set were given to the perceptron! </a:t>
            </a:r>
            <a:r>
              <a:rPr lang="en-GB" sz="2400" b="1" dirty="0">
                <a:sym typeface="Wingdings" panose="05000000000000000000" pitchFamily="2" charset="2"/>
              </a:rPr>
              <a:t> THIS IS CALLED ONE EPOCH!</a:t>
            </a:r>
          </a:p>
          <a:p>
            <a:endParaRPr lang="en-GB" sz="2400" b="1" dirty="0">
              <a:sym typeface="Wingdings" panose="05000000000000000000" pitchFamily="2" charset="2"/>
            </a:endParaRPr>
          </a:p>
          <a:p>
            <a:r>
              <a:rPr lang="en-GB" sz="2400" b="1" dirty="0">
                <a:sym typeface="Wingdings" panose="05000000000000000000" pitchFamily="2" charset="2"/>
              </a:rPr>
              <a:t>New weights:</a:t>
            </a:r>
          </a:p>
          <a:p>
            <a:r>
              <a:rPr lang="en-GB" sz="2400" b="1" dirty="0">
                <a:sym typeface="Wingdings" panose="05000000000000000000" pitchFamily="2" charset="2"/>
              </a:rPr>
              <a:t>w1 = 0.3</a:t>
            </a:r>
          </a:p>
          <a:p>
            <a:r>
              <a:rPr lang="en-GB" sz="2400" b="1" dirty="0">
                <a:sym typeface="Wingdings" panose="05000000000000000000" pitchFamily="2" charset="2"/>
              </a:rPr>
              <a:t>w2= 0</a:t>
            </a:r>
          </a:p>
          <a:p>
            <a:endParaRPr lang="en-GB" sz="2400" b="1" dirty="0">
              <a:sym typeface="Wingdings" panose="05000000000000000000" pitchFamily="2" charset="2"/>
            </a:endParaRPr>
          </a:p>
          <a:p>
            <a:r>
              <a:rPr lang="en-GB" sz="2400" b="1" dirty="0">
                <a:sym typeface="Wingdings" panose="05000000000000000000" pitchFamily="2" charset="2"/>
              </a:rPr>
              <a:t>FEED THE ALGORITHM UNTIL ALL DESIRED OUTPUTS EQUAL TO PREDICTED OUTPUTS!!!</a:t>
            </a:r>
          </a:p>
          <a:p>
            <a:endParaRPr lang="en-GB" sz="2400" b="1" dirty="0">
              <a:sym typeface="Wingdings" panose="05000000000000000000" pitchFamily="2" charset="2"/>
            </a:endParaRPr>
          </a:p>
          <a:p>
            <a:r>
              <a:rPr lang="en-GB" sz="2400" b="1" dirty="0">
                <a:sym typeface="Wingdings" panose="05000000000000000000" pitchFamily="2" charset="2"/>
              </a:rPr>
              <a:t>EPOCH 2, EPOCH 3, EPOCH 4, EPOCH 5</a:t>
            </a:r>
            <a:endParaRPr lang="tr-TR" sz="2400" b="1" dirty="0"/>
          </a:p>
          <a:p>
            <a:endParaRPr lang="en-GB" sz="2400" b="1" dirty="0">
              <a:sym typeface="Wingdings" panose="05000000000000000000" pitchFamily="2" charset="2"/>
            </a:endParaRPr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540012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EBD8-94F9-4E42-4CFF-CDF3BBE3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let’s try to teach a </a:t>
            </a:r>
            <a:r>
              <a:rPr lang="en-GB" b="1" dirty="0"/>
              <a:t>perceptron</a:t>
            </a:r>
            <a:r>
              <a:rPr lang="en-GB" dirty="0"/>
              <a:t> how </a:t>
            </a:r>
            <a:r>
              <a:rPr lang="en-GB" b="1" dirty="0"/>
              <a:t>AND</a:t>
            </a:r>
            <a:r>
              <a:rPr lang="en-GB" dirty="0"/>
              <a:t> gate works!</a:t>
            </a:r>
            <a:endParaRPr lang="tr-T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1B7B616-70B5-332C-14CF-EA36BE0242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545564" cy="18542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36391">
                  <a:extLst>
                    <a:ext uri="{9D8B030D-6E8A-4147-A177-3AD203B41FA5}">
                      <a16:colId xmlns:a16="http://schemas.microsoft.com/office/drawing/2014/main" val="1970303444"/>
                    </a:ext>
                  </a:extLst>
                </a:gridCol>
                <a:gridCol w="1136391">
                  <a:extLst>
                    <a:ext uri="{9D8B030D-6E8A-4147-A177-3AD203B41FA5}">
                      <a16:colId xmlns:a16="http://schemas.microsoft.com/office/drawing/2014/main" val="3157532626"/>
                    </a:ext>
                  </a:extLst>
                </a:gridCol>
                <a:gridCol w="2272782">
                  <a:extLst>
                    <a:ext uri="{9D8B030D-6E8A-4147-A177-3AD203B41FA5}">
                      <a16:colId xmlns:a16="http://schemas.microsoft.com/office/drawing/2014/main" val="1538417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INPUT 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INPUT 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DESIRED OUTPUT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29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72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99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08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759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8AAFC78-9FC7-2BC8-D5C9-D4FB3B326F6A}"/>
                  </a:ext>
                </a:extLst>
              </p14:cNvPr>
              <p14:cNvContentPartPr/>
              <p14:nvPr/>
            </p14:nvContentPartPr>
            <p14:xfrm>
              <a:off x="6988768" y="224867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8AAFC78-9FC7-2BC8-D5C9-D4FB3B326F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2768" y="2032670"/>
                <a:ext cx="72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7A6B88-5066-2165-BA8C-53085F893781}"/>
                  </a:ext>
                </a:extLst>
              </p:cNvPr>
              <p:cNvSpPr txBox="1"/>
              <p:nvPr/>
            </p:nvSpPr>
            <p:spPr>
              <a:xfrm>
                <a:off x="5697062" y="1928641"/>
                <a:ext cx="6180807" cy="6370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EPOCH 2</a:t>
                </a:r>
              </a:p>
              <a:p>
                <a:endParaRPr lang="en-GB" sz="2400" b="1" dirty="0"/>
              </a:p>
              <a:p>
                <a:r>
                  <a:rPr lang="en-GB" sz="2400" b="1" dirty="0"/>
                  <a:t>1</a:t>
                </a:r>
                <a:r>
                  <a:rPr lang="en-GB" sz="2400" b="1" baseline="30000" dirty="0"/>
                  <a:t>st</a:t>
                </a:r>
                <a:r>
                  <a:rPr lang="en-GB" sz="2400" b="1" dirty="0"/>
                  <a:t> sample) 0*0.3+0*0=0&lt;0.2 pr. output=0</a:t>
                </a:r>
              </a:p>
              <a:p>
                <a:r>
                  <a:rPr lang="en-GB" sz="2400" b="1" dirty="0"/>
                  <a:t>2</a:t>
                </a:r>
                <a:r>
                  <a:rPr lang="en-GB" sz="2400" b="1" baseline="30000" dirty="0"/>
                  <a:t>nd</a:t>
                </a:r>
                <a:r>
                  <a:rPr lang="en-GB" sz="2400" b="1" dirty="0"/>
                  <a:t> sample) 0*0.3+1.0=0&lt;0.2 pr. Output=0</a:t>
                </a:r>
              </a:p>
              <a:p>
                <a:r>
                  <a:rPr lang="en-GB" sz="2400" b="1" dirty="0"/>
                  <a:t>3</a:t>
                </a:r>
                <a:r>
                  <a:rPr lang="en-GB" sz="2400" b="1" baseline="30000" dirty="0"/>
                  <a:t>rd</a:t>
                </a:r>
                <a:r>
                  <a:rPr lang="en-GB" sz="2400" b="1" dirty="0"/>
                  <a:t> sample) 1*0.3+0*0=0.3&gt;0.2 pr. Output=1</a:t>
                </a:r>
              </a:p>
              <a:p>
                <a:r>
                  <a:rPr lang="en-GB" sz="2400" b="1" dirty="0"/>
                  <a:t>Update weights!</a:t>
                </a:r>
              </a:p>
              <a:p>
                <a:r>
                  <a:rPr lang="en-GB" sz="2400" b="1" dirty="0"/>
                  <a:t>Error (e)=desired class-predicted class=0-1=</a:t>
                </a:r>
                <a:r>
                  <a:rPr lang="en-GB" sz="2400" b="1" dirty="0">
                    <a:solidFill>
                      <a:srgbClr val="FF0000"/>
                    </a:solidFill>
                  </a:rPr>
                  <a:t>-1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∆</m:t>
                      </m:r>
                      <m:sSub>
                        <m:sSub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𝒘</m:t>
                          </m:r>
                        </m:e>
                        <m:sub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b>
                      </m:sSub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=∝∗</m:t>
                      </m:r>
                      <m:sSub>
                        <m:sSubPr>
                          <m:ctrlP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b>
                      </m:sSub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∗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𝒆</m:t>
                      </m:r>
                    </m:oMath>
                  </m:oMathPara>
                </a14:m>
                <a:endParaRPr lang="en-GB" sz="2400" b="1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r>
                  <a:rPr lang="en-GB" sz="24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GB" sz="2400" b="1" baseline="30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th</a:t>
                </a:r>
                <a:r>
                  <a:rPr lang="en-GB" sz="24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sample) 1*0.2+1*0=0.2 &lt;0.2 ?  NO pr. Output=1  pr. Output= desired output  NO NEED To UPDATE WEIGHTS!</a:t>
                </a:r>
              </a:p>
              <a:p>
                <a:endParaRPr lang="en-GB" sz="2400" b="1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r>
                  <a:rPr lang="en-GB" sz="24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END OF THE SECOND EPOCH</a:t>
                </a:r>
              </a:p>
              <a:p>
                <a:endParaRPr lang="en-GB" sz="2400" b="1" dirty="0"/>
              </a:p>
              <a:p>
                <a:endParaRPr lang="tr-TR" sz="2400" b="1" dirty="0"/>
              </a:p>
              <a:p>
                <a:endParaRPr lang="en-GB" sz="2400" b="1" dirty="0">
                  <a:sym typeface="Wingdings" panose="05000000000000000000" pitchFamily="2" charset="2"/>
                </a:endParaRPr>
              </a:p>
              <a:p>
                <a:endParaRPr lang="tr-TR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7A6B88-5066-2165-BA8C-53085F893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062" y="1928641"/>
                <a:ext cx="6180807" cy="6370975"/>
              </a:xfrm>
              <a:prstGeom prst="rect">
                <a:avLst/>
              </a:prstGeom>
              <a:blipFill>
                <a:blip r:embed="rId4"/>
                <a:stretch>
                  <a:fillRect l="-1579" t="-766" r="-88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lus Sign 2">
            <a:extLst>
              <a:ext uri="{FF2B5EF4-FFF2-40B4-BE49-F238E27FC236}">
                <a16:creationId xmlns:a16="http://schemas.microsoft.com/office/drawing/2014/main" id="{A90FA498-897A-B3B5-35C2-CEA321456B37}"/>
              </a:ext>
            </a:extLst>
          </p:cNvPr>
          <p:cNvSpPr/>
          <p:nvPr/>
        </p:nvSpPr>
        <p:spPr>
          <a:xfrm>
            <a:off x="3950898" y="2113472"/>
            <a:ext cx="517585" cy="51758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Plus Sign 5">
            <a:extLst>
              <a:ext uri="{FF2B5EF4-FFF2-40B4-BE49-F238E27FC236}">
                <a16:creationId xmlns:a16="http://schemas.microsoft.com/office/drawing/2014/main" id="{64B0598E-8A8C-1416-86CD-4D62B405C645}"/>
              </a:ext>
            </a:extLst>
          </p:cNvPr>
          <p:cNvSpPr/>
          <p:nvPr/>
        </p:nvSpPr>
        <p:spPr>
          <a:xfrm>
            <a:off x="4408538" y="2445350"/>
            <a:ext cx="517585" cy="51758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559A9D-BC69-96AE-3499-E066A7D7F076}"/>
                  </a:ext>
                </a:extLst>
              </p:cNvPr>
              <p:cNvSpPr txBox="1"/>
              <p:nvPr/>
            </p:nvSpPr>
            <p:spPr>
              <a:xfrm>
                <a:off x="319177" y="3821502"/>
                <a:ext cx="519310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∆</m:t>
                      </m:r>
                      <m:sSub>
                        <m:sSubPr>
                          <m:ctrlPr>
                            <a:rPr lang="en-GB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𝒘</m:t>
                          </m:r>
                        </m:e>
                        <m:sub>
                          <m:r>
                            <a:rPr lang="en-GB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𝟎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.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∗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∗</m:t>
                      </m:r>
                      <m:d>
                        <m:dPr>
                          <m:ctrlPr>
                            <a:rPr lang="en-GB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GB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e>
                      </m:d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=−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𝟎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.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</m:oMath>
                  </m:oMathPara>
                </a14:m>
                <a:endParaRPr lang="en-GB" sz="1800" b="1" dirty="0">
                  <a:solidFill>
                    <a:srgbClr val="FF0000"/>
                  </a:solidFill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∆</m:t>
                      </m:r>
                      <m:sSub>
                        <m:sSubPr>
                          <m:ctrlPr>
                            <a:rPr lang="en-GB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𝒘</m:t>
                          </m:r>
                        </m:e>
                        <m:sub>
                          <m:r>
                            <a:rPr lang="en-GB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𝟐</m:t>
                          </m:r>
                        </m:sub>
                      </m:sSub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𝟎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.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∗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𝟎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∗</m:t>
                      </m:r>
                      <m:d>
                        <m:dPr>
                          <m:ctrlPr>
                            <a:rPr lang="en-GB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GB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e>
                      </m:d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𝟎</m:t>
                      </m:r>
                    </m:oMath>
                  </m:oMathPara>
                </a14:m>
                <a:endParaRPr lang="en-GB" sz="1800" b="1" dirty="0">
                  <a:solidFill>
                    <a:srgbClr val="FF0000"/>
                  </a:solidFill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endParaRPr lang="en-GB" dirty="0"/>
              </a:p>
              <a:p>
                <a:r>
                  <a:rPr lang="en-GB" dirty="0"/>
                  <a:t>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dirty="0"/>
                  <a:t>=</a:t>
                </a:r>
                <a:r>
                  <a:rPr lang="en-GB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dirty="0"/>
                  <a:t>+</a:t>
                </a:r>
                <a:r>
                  <a:rPr lang="en-GB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sSub>
                      <m:sSubPr>
                        <m:ctrlP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r>
                      <a:rPr lang="en-GB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GB" dirty="0"/>
                  <a:t>0.3+(-0.1)=</a:t>
                </a:r>
                <a:r>
                  <a:rPr lang="en-GB" b="1" dirty="0">
                    <a:solidFill>
                      <a:srgbClr val="FF0000"/>
                    </a:solidFill>
                  </a:rPr>
                  <a:t>0.2</a:t>
                </a:r>
              </a:p>
              <a:p>
                <a:r>
                  <a:rPr lang="en-GB" dirty="0"/>
                  <a:t>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dirty="0"/>
                  <a:t>=</a:t>
                </a:r>
                <a:r>
                  <a:rPr lang="en-GB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dirty="0"/>
                  <a:t>+</a:t>
                </a:r>
                <a:r>
                  <a:rPr lang="en-GB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sSub>
                      <m:sSubPr>
                        <m:ctrlP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𝒘</m:t>
                        </m:r>
                      </m:e>
                      <m:sub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</m:sSub>
                    <m:r>
                      <a:rPr lang="en-GB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GB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GB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GB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GB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GB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559A9D-BC69-96AE-3499-E066A7D7F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77" y="3821502"/>
                <a:ext cx="5193102" cy="1477328"/>
              </a:xfrm>
              <a:prstGeom prst="rect">
                <a:avLst/>
              </a:prstGeom>
              <a:blipFill>
                <a:blip r:embed="rId5"/>
                <a:stretch>
                  <a:fillRect l="-939" b="-5785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60FF4C61-F2A0-FEC1-5C25-F1C0FB9C5D48}"/>
              </a:ext>
            </a:extLst>
          </p:cNvPr>
          <p:cNvSpPr/>
          <p:nvPr/>
        </p:nvSpPr>
        <p:spPr>
          <a:xfrm>
            <a:off x="3629687" y="2772734"/>
            <a:ext cx="457640" cy="50530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Plus Sign 8">
            <a:extLst>
              <a:ext uri="{FF2B5EF4-FFF2-40B4-BE49-F238E27FC236}">
                <a16:creationId xmlns:a16="http://schemas.microsoft.com/office/drawing/2014/main" id="{EB5441CA-0021-C4EF-8CFD-CB530D59127E}"/>
              </a:ext>
            </a:extLst>
          </p:cNvPr>
          <p:cNvSpPr/>
          <p:nvPr/>
        </p:nvSpPr>
        <p:spPr>
          <a:xfrm>
            <a:off x="4013317" y="3278038"/>
            <a:ext cx="517585" cy="51758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783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1706</Words>
  <Application>Microsoft Office PowerPoint</Application>
  <PresentationFormat>Widescreen</PresentationFormat>
  <Paragraphs>263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Roboto</vt:lpstr>
      <vt:lpstr>Office Theme</vt:lpstr>
      <vt:lpstr>Perceptron</vt:lpstr>
      <vt:lpstr>Perceptron</vt:lpstr>
      <vt:lpstr>Perceptron – Biological Neuron</vt:lpstr>
      <vt:lpstr>Perceptron – Biological Neuron</vt:lpstr>
      <vt:lpstr>Perceptron – Artificial Neuron</vt:lpstr>
      <vt:lpstr>Perceptron – Artificial Neuron</vt:lpstr>
      <vt:lpstr>Biological Neuron vs. Artificial Neuron </vt:lpstr>
      <vt:lpstr>Artificial Neuron - Characteristics </vt:lpstr>
      <vt:lpstr>Perceptron</vt:lpstr>
      <vt:lpstr>Types of Perceptron </vt:lpstr>
      <vt:lpstr>Perceptron</vt:lpstr>
      <vt:lpstr> How Does Perceptron Work?  </vt:lpstr>
      <vt:lpstr>  How Does Perceptron Work?  </vt:lpstr>
      <vt:lpstr>Stages in Perceptron</vt:lpstr>
      <vt:lpstr>Adv. &amp; Disadv. of MLP</vt:lpstr>
      <vt:lpstr>Activation Function</vt:lpstr>
      <vt:lpstr>EXAMPLE – let’s try to teach a perceptron how AND gate works!</vt:lpstr>
      <vt:lpstr>EXAMPLE – let’s try to teach a perceptron how AND gate works!</vt:lpstr>
      <vt:lpstr>EXAMPLE – let’s try to teach a perceptron how AND gate works!</vt:lpstr>
      <vt:lpstr>EXAMPLE – let’s try to teach a perceptron how AND gate works!</vt:lpstr>
      <vt:lpstr>EXAMPLE – let’s try to teach a perceptron how AND gate works!</vt:lpstr>
      <vt:lpstr>EXAMPLE – let’s try to teach a perceptron how AND gate works!</vt:lpstr>
      <vt:lpstr>EXAMPLE – let’s try to teach a perceptron how AND gate works!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Perceptron</dc:title>
  <dc:creator>Koray Açıcı</dc:creator>
  <cp:lastModifiedBy>Koray Açıcı</cp:lastModifiedBy>
  <cp:revision>54</cp:revision>
  <dcterms:created xsi:type="dcterms:W3CDTF">2023-03-27T22:21:50Z</dcterms:created>
  <dcterms:modified xsi:type="dcterms:W3CDTF">2023-03-28T17:53:08Z</dcterms:modified>
</cp:coreProperties>
</file>